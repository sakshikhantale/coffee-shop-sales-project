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0D1"/>
    <a:srgbClr val="967259"/>
    <a:srgbClr val="634832"/>
    <a:srgbClr val="38220F"/>
    <a:srgbClr val="3528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727033-EB90-4418-AE24-FF81A44D7059}" v="81" dt="2025-07-27T15:24:50.2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78" autoAdjust="0"/>
    <p:restoredTop sz="94660"/>
  </p:normalViewPr>
  <p:slideViewPr>
    <p:cSldViewPr snapToGrid="0">
      <p:cViewPr varScale="1">
        <p:scale>
          <a:sx n="78" d="100"/>
          <a:sy n="78" d="100"/>
        </p:scale>
        <p:origin x="71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shi Khantale" userId="f491327f82b0529d" providerId="LiveId" clId="{FD727033-EB90-4418-AE24-FF81A44D7059}"/>
    <pc:docChg chg="undo custSel addSld delSld modSld">
      <pc:chgData name="Sakshi Khantale" userId="f491327f82b0529d" providerId="LiveId" clId="{FD727033-EB90-4418-AE24-FF81A44D7059}" dt="2025-08-17T07:20:26.950" v="962" actId="255"/>
      <pc:docMkLst>
        <pc:docMk/>
      </pc:docMkLst>
      <pc:sldChg chg="modSp mod">
        <pc:chgData name="Sakshi Khantale" userId="f491327f82b0529d" providerId="LiveId" clId="{FD727033-EB90-4418-AE24-FF81A44D7059}" dt="2025-07-26T15:46:26.229" v="11" actId="255"/>
        <pc:sldMkLst>
          <pc:docMk/>
          <pc:sldMk cId="3113243873" sldId="256"/>
        </pc:sldMkLst>
        <pc:spChg chg="mod">
          <ac:chgData name="Sakshi Khantale" userId="f491327f82b0529d" providerId="LiveId" clId="{FD727033-EB90-4418-AE24-FF81A44D7059}" dt="2025-07-26T15:46:26.229" v="11" actId="255"/>
          <ac:spMkLst>
            <pc:docMk/>
            <pc:sldMk cId="3113243873" sldId="256"/>
            <ac:spMk id="3" creationId="{CB1754C4-E807-DBCA-C7F4-6B6CD88EEA31}"/>
          </ac:spMkLst>
        </pc:spChg>
      </pc:sldChg>
      <pc:sldChg chg="modSp mod">
        <pc:chgData name="Sakshi Khantale" userId="f491327f82b0529d" providerId="LiveId" clId="{FD727033-EB90-4418-AE24-FF81A44D7059}" dt="2025-08-17T07:20:26.950" v="962" actId="255"/>
        <pc:sldMkLst>
          <pc:docMk/>
          <pc:sldMk cId="3802883784" sldId="258"/>
        </pc:sldMkLst>
        <pc:spChg chg="mod">
          <ac:chgData name="Sakshi Khantale" userId="f491327f82b0529d" providerId="LiveId" clId="{FD727033-EB90-4418-AE24-FF81A44D7059}" dt="2025-08-17T07:20:26.950" v="962" actId="255"/>
          <ac:spMkLst>
            <pc:docMk/>
            <pc:sldMk cId="3802883784" sldId="258"/>
            <ac:spMk id="3" creationId="{0C24F934-FFFF-096B-BE98-E0EB2B247190}"/>
          </ac:spMkLst>
        </pc:spChg>
      </pc:sldChg>
      <pc:sldChg chg="modSp mod">
        <pc:chgData name="Sakshi Khantale" userId="f491327f82b0529d" providerId="LiveId" clId="{FD727033-EB90-4418-AE24-FF81A44D7059}" dt="2025-07-27T15:57:55.212" v="932" actId="20577"/>
        <pc:sldMkLst>
          <pc:docMk/>
          <pc:sldMk cId="42989679" sldId="259"/>
        </pc:sldMkLst>
        <pc:spChg chg="mod">
          <ac:chgData name="Sakshi Khantale" userId="f491327f82b0529d" providerId="LiveId" clId="{FD727033-EB90-4418-AE24-FF81A44D7059}" dt="2025-07-27T12:33:57.502" v="50" actId="255"/>
          <ac:spMkLst>
            <pc:docMk/>
            <pc:sldMk cId="42989679" sldId="259"/>
            <ac:spMk id="3" creationId="{6DE266B8-F292-D72B-EE63-C466BC9B5B60}"/>
          </ac:spMkLst>
        </pc:spChg>
        <pc:spChg chg="mod">
          <ac:chgData name="Sakshi Khantale" userId="f491327f82b0529d" providerId="LiveId" clId="{FD727033-EB90-4418-AE24-FF81A44D7059}" dt="2025-07-27T15:57:55.212" v="932" actId="20577"/>
          <ac:spMkLst>
            <pc:docMk/>
            <pc:sldMk cId="42989679" sldId="259"/>
            <ac:spMk id="5" creationId="{6870945E-ADB7-3FE7-9726-902BABA16427}"/>
          </ac:spMkLst>
        </pc:spChg>
      </pc:sldChg>
      <pc:sldChg chg="modSp mod">
        <pc:chgData name="Sakshi Khantale" userId="f491327f82b0529d" providerId="LiveId" clId="{FD727033-EB90-4418-AE24-FF81A44D7059}" dt="2025-07-27T15:58:59.636" v="936" actId="255"/>
        <pc:sldMkLst>
          <pc:docMk/>
          <pc:sldMk cId="545383366" sldId="260"/>
        </pc:sldMkLst>
        <pc:spChg chg="mod">
          <ac:chgData name="Sakshi Khantale" userId="f491327f82b0529d" providerId="LiveId" clId="{FD727033-EB90-4418-AE24-FF81A44D7059}" dt="2025-07-27T14:15:20.845" v="299" actId="20577"/>
          <ac:spMkLst>
            <pc:docMk/>
            <pc:sldMk cId="545383366" sldId="260"/>
            <ac:spMk id="2" creationId="{E14387E0-AFBD-2610-6BD2-2EE186E7E7E3}"/>
          </ac:spMkLst>
        </pc:spChg>
        <pc:spChg chg="mod">
          <ac:chgData name="Sakshi Khantale" userId="f491327f82b0529d" providerId="LiveId" clId="{FD727033-EB90-4418-AE24-FF81A44D7059}" dt="2025-07-27T15:58:59.636" v="936" actId="255"/>
          <ac:spMkLst>
            <pc:docMk/>
            <pc:sldMk cId="545383366" sldId="260"/>
            <ac:spMk id="3" creationId="{53F53990-EEB9-A055-FE5E-B8B47367575E}"/>
          </ac:spMkLst>
        </pc:spChg>
      </pc:sldChg>
      <pc:sldChg chg="modSp mod">
        <pc:chgData name="Sakshi Khantale" userId="f491327f82b0529d" providerId="LiveId" clId="{FD727033-EB90-4418-AE24-FF81A44D7059}" dt="2025-07-27T15:59:23.001" v="939" actId="255"/>
        <pc:sldMkLst>
          <pc:docMk/>
          <pc:sldMk cId="2501284050" sldId="261"/>
        </pc:sldMkLst>
        <pc:spChg chg="mod">
          <ac:chgData name="Sakshi Khantale" userId="f491327f82b0529d" providerId="LiveId" clId="{FD727033-EB90-4418-AE24-FF81A44D7059}" dt="2025-07-27T15:59:10.646" v="937" actId="255"/>
          <ac:spMkLst>
            <pc:docMk/>
            <pc:sldMk cId="2501284050" sldId="261"/>
            <ac:spMk id="3" creationId="{E6EC0236-1400-B6F9-E18E-92E814F37F55}"/>
          </ac:spMkLst>
        </pc:spChg>
        <pc:spChg chg="mod">
          <ac:chgData name="Sakshi Khantale" userId="f491327f82b0529d" providerId="LiveId" clId="{FD727033-EB90-4418-AE24-FF81A44D7059}" dt="2025-07-27T15:59:23.001" v="939" actId="255"/>
          <ac:spMkLst>
            <pc:docMk/>
            <pc:sldMk cId="2501284050" sldId="261"/>
            <ac:spMk id="5" creationId="{B4F4DE0D-6E78-8919-CB30-63664EED6014}"/>
          </ac:spMkLst>
        </pc:spChg>
        <pc:spChg chg="mod">
          <ac:chgData name="Sakshi Khantale" userId="f491327f82b0529d" providerId="LiveId" clId="{FD727033-EB90-4418-AE24-FF81A44D7059}" dt="2025-07-27T15:58:35.622" v="933" actId="1035"/>
          <ac:spMkLst>
            <pc:docMk/>
            <pc:sldMk cId="2501284050" sldId="261"/>
            <ac:spMk id="9" creationId="{9CA93AD4-22D0-9F6D-2454-622AA80681E5}"/>
          </ac:spMkLst>
        </pc:spChg>
      </pc:sldChg>
      <pc:sldChg chg="modSp mod">
        <pc:chgData name="Sakshi Khantale" userId="f491327f82b0529d" providerId="LiveId" clId="{FD727033-EB90-4418-AE24-FF81A44D7059}" dt="2025-07-27T15:59:34.082" v="940" actId="255"/>
        <pc:sldMkLst>
          <pc:docMk/>
          <pc:sldMk cId="459360167" sldId="263"/>
        </pc:sldMkLst>
        <pc:spChg chg="mod">
          <ac:chgData name="Sakshi Khantale" userId="f491327f82b0529d" providerId="LiveId" clId="{FD727033-EB90-4418-AE24-FF81A44D7059}" dt="2025-07-27T15:59:34.082" v="940" actId="255"/>
          <ac:spMkLst>
            <pc:docMk/>
            <pc:sldMk cId="459360167" sldId="263"/>
            <ac:spMk id="5" creationId="{EDBB82A4-09E6-3817-07D5-9754E8AE6069}"/>
          </ac:spMkLst>
        </pc:spChg>
      </pc:sldChg>
      <pc:sldChg chg="addSp delSp modSp new mod">
        <pc:chgData name="Sakshi Khantale" userId="f491327f82b0529d" providerId="LiveId" clId="{FD727033-EB90-4418-AE24-FF81A44D7059}" dt="2025-07-27T12:46:40.904" v="190" actId="1076"/>
        <pc:sldMkLst>
          <pc:docMk/>
          <pc:sldMk cId="2996641649" sldId="264"/>
        </pc:sldMkLst>
        <pc:spChg chg="add mod">
          <ac:chgData name="Sakshi Khantale" userId="f491327f82b0529d" providerId="LiveId" clId="{FD727033-EB90-4418-AE24-FF81A44D7059}" dt="2025-07-27T12:46:40.904" v="190" actId="1076"/>
          <ac:spMkLst>
            <pc:docMk/>
            <pc:sldMk cId="2996641649" sldId="264"/>
            <ac:spMk id="3" creationId="{922FDE99-34DA-838D-5736-B7734D8371A3}"/>
          </ac:spMkLst>
        </pc:spChg>
        <pc:spChg chg="add mod">
          <ac:chgData name="Sakshi Khantale" userId="f491327f82b0529d" providerId="LiveId" clId="{FD727033-EB90-4418-AE24-FF81A44D7059}" dt="2025-07-27T12:43:27.842" v="187" actId="14100"/>
          <ac:spMkLst>
            <pc:docMk/>
            <pc:sldMk cId="2996641649" sldId="264"/>
            <ac:spMk id="6" creationId="{485919F1-A378-EF17-5AF3-93F375BBBBB3}"/>
          </ac:spMkLst>
        </pc:spChg>
        <pc:spChg chg="add mod">
          <ac:chgData name="Sakshi Khantale" userId="f491327f82b0529d" providerId="LiveId" clId="{FD727033-EB90-4418-AE24-FF81A44D7059}" dt="2025-07-27T12:46:33.937" v="189" actId="1076"/>
          <ac:spMkLst>
            <pc:docMk/>
            <pc:sldMk cId="2996641649" sldId="264"/>
            <ac:spMk id="8" creationId="{D86FB8DE-1CDA-0C75-8DD1-BFC248C33C5D}"/>
          </ac:spMkLst>
        </pc:spChg>
      </pc:sldChg>
      <pc:sldChg chg="addSp modSp new mod">
        <pc:chgData name="Sakshi Khantale" userId="f491327f82b0529d" providerId="LiveId" clId="{FD727033-EB90-4418-AE24-FF81A44D7059}" dt="2025-07-27T14:00:15.942" v="229" actId="12"/>
        <pc:sldMkLst>
          <pc:docMk/>
          <pc:sldMk cId="487051197" sldId="265"/>
        </pc:sldMkLst>
        <pc:spChg chg="add mod">
          <ac:chgData name="Sakshi Khantale" userId="f491327f82b0529d" providerId="LiveId" clId="{FD727033-EB90-4418-AE24-FF81A44D7059}" dt="2025-07-27T13:41:58.586" v="214" actId="20577"/>
          <ac:spMkLst>
            <pc:docMk/>
            <pc:sldMk cId="487051197" sldId="265"/>
            <ac:spMk id="3" creationId="{721288DC-2FCB-0DD5-73E3-6CF4D02BC78E}"/>
          </ac:spMkLst>
        </pc:spChg>
        <pc:spChg chg="add mod">
          <ac:chgData name="Sakshi Khantale" userId="f491327f82b0529d" providerId="LiveId" clId="{FD727033-EB90-4418-AE24-FF81A44D7059}" dt="2025-07-27T13:59:41.361" v="224" actId="113"/>
          <ac:spMkLst>
            <pc:docMk/>
            <pc:sldMk cId="487051197" sldId="265"/>
            <ac:spMk id="5" creationId="{933307B1-5342-6D6E-EFCC-59C26E3DEA80}"/>
          </ac:spMkLst>
        </pc:spChg>
        <pc:spChg chg="add mod">
          <ac:chgData name="Sakshi Khantale" userId="f491327f82b0529d" providerId="LiveId" clId="{FD727033-EB90-4418-AE24-FF81A44D7059}" dt="2025-07-27T14:00:15.942" v="229" actId="12"/>
          <ac:spMkLst>
            <pc:docMk/>
            <pc:sldMk cId="487051197" sldId="265"/>
            <ac:spMk id="7" creationId="{80865B3B-6088-3E86-70FF-8B8D5C896B96}"/>
          </ac:spMkLst>
        </pc:spChg>
      </pc:sldChg>
      <pc:sldChg chg="addSp delSp modSp new mod">
        <pc:chgData name="Sakshi Khantale" userId="f491327f82b0529d" providerId="LiveId" clId="{FD727033-EB90-4418-AE24-FF81A44D7059}" dt="2025-07-27T16:00:03.725" v="942" actId="113"/>
        <pc:sldMkLst>
          <pc:docMk/>
          <pc:sldMk cId="171836542" sldId="266"/>
        </pc:sldMkLst>
        <pc:spChg chg="mod">
          <ac:chgData name="Sakshi Khantale" userId="f491327f82b0529d" providerId="LiveId" clId="{FD727033-EB90-4418-AE24-FF81A44D7059}" dt="2025-07-27T14:10:47.594" v="269" actId="207"/>
          <ac:spMkLst>
            <pc:docMk/>
            <pc:sldMk cId="171836542" sldId="266"/>
            <ac:spMk id="2" creationId="{057852EB-C4F6-D4F1-3798-C19923E63267}"/>
          </ac:spMkLst>
        </pc:spChg>
        <pc:spChg chg="mod">
          <ac:chgData name="Sakshi Khantale" userId="f491327f82b0529d" providerId="LiveId" clId="{FD727033-EB90-4418-AE24-FF81A44D7059}" dt="2025-07-27T16:00:03.725" v="942" actId="113"/>
          <ac:spMkLst>
            <pc:docMk/>
            <pc:sldMk cId="171836542" sldId="266"/>
            <ac:spMk id="3" creationId="{0441769E-1BC8-3331-C7B5-4AC8FEF69D8E}"/>
          </ac:spMkLst>
        </pc:spChg>
        <pc:spChg chg="add mod">
          <ac:chgData name="Sakshi Khantale" userId="f491327f82b0529d" providerId="LiveId" clId="{FD727033-EB90-4418-AE24-FF81A44D7059}" dt="2025-07-27T14:28:27.399" v="438" actId="20577"/>
          <ac:spMkLst>
            <pc:docMk/>
            <pc:sldMk cId="171836542" sldId="266"/>
            <ac:spMk id="4" creationId="{A97FBBBC-992E-579B-5662-884FF313833A}"/>
          </ac:spMkLst>
        </pc:spChg>
        <pc:graphicFrameChg chg="add mod modGraphic">
          <ac:chgData name="Sakshi Khantale" userId="f491327f82b0529d" providerId="LiveId" clId="{FD727033-EB90-4418-AE24-FF81A44D7059}" dt="2025-07-27T14:33:25.818" v="477" actId="20577"/>
          <ac:graphicFrameMkLst>
            <pc:docMk/>
            <pc:sldMk cId="171836542" sldId="266"/>
            <ac:graphicFrameMk id="14" creationId="{A30694C0-C3F1-8C54-6401-B696C9888407}"/>
          </ac:graphicFrameMkLst>
        </pc:graphicFrameChg>
        <pc:graphicFrameChg chg="add mod">
          <ac:chgData name="Sakshi Khantale" userId="f491327f82b0529d" providerId="LiveId" clId="{FD727033-EB90-4418-AE24-FF81A44D7059}" dt="2025-07-27T14:34:45.628" v="491"/>
          <ac:graphicFrameMkLst>
            <pc:docMk/>
            <pc:sldMk cId="171836542" sldId="266"/>
            <ac:graphicFrameMk id="20" creationId="{5478A1BF-58DE-65C6-C76E-C66101F53E17}"/>
          </ac:graphicFrameMkLst>
        </pc:graphicFrameChg>
      </pc:sldChg>
      <pc:sldChg chg="addSp delSp modSp new del mod">
        <pc:chgData name="Sakshi Khantale" userId="f491327f82b0529d" providerId="LiveId" clId="{FD727033-EB90-4418-AE24-FF81A44D7059}" dt="2025-07-27T14:15:08.932" v="296" actId="680"/>
        <pc:sldMkLst>
          <pc:docMk/>
          <pc:sldMk cId="4075591660" sldId="267"/>
        </pc:sldMkLst>
      </pc:sldChg>
      <pc:sldChg chg="addSp delSp modSp new mod">
        <pc:chgData name="Sakshi Khantale" userId="f491327f82b0529d" providerId="LiveId" clId="{FD727033-EB90-4418-AE24-FF81A44D7059}" dt="2025-07-27T16:00:25.510" v="944" actId="113"/>
        <pc:sldMkLst>
          <pc:docMk/>
          <pc:sldMk cId="4247780274" sldId="267"/>
        </pc:sldMkLst>
        <pc:spChg chg="add mod">
          <ac:chgData name="Sakshi Khantale" userId="f491327f82b0529d" providerId="LiveId" clId="{FD727033-EB90-4418-AE24-FF81A44D7059}" dt="2025-07-27T16:00:22.215" v="943" actId="113"/>
          <ac:spMkLst>
            <pc:docMk/>
            <pc:sldMk cId="4247780274" sldId="267"/>
            <ac:spMk id="5" creationId="{42E5C3BB-D234-42FB-9D5F-739F738C3B34}"/>
          </ac:spMkLst>
        </pc:spChg>
        <pc:spChg chg="add mod">
          <ac:chgData name="Sakshi Khantale" userId="f491327f82b0529d" providerId="LiveId" clId="{FD727033-EB90-4418-AE24-FF81A44D7059}" dt="2025-07-27T16:00:25.510" v="944" actId="113"/>
          <ac:spMkLst>
            <pc:docMk/>
            <pc:sldMk cId="4247780274" sldId="267"/>
            <ac:spMk id="7" creationId="{96315565-9E0F-4594-2DC4-ACF0D2E6800E}"/>
          </ac:spMkLst>
        </pc:spChg>
      </pc:sldChg>
      <pc:sldChg chg="addSp delSp modSp new mod">
        <pc:chgData name="Sakshi Khantale" userId="f491327f82b0529d" providerId="LiveId" clId="{FD727033-EB90-4418-AE24-FF81A44D7059}" dt="2025-07-27T16:02:02.246" v="948" actId="1076"/>
        <pc:sldMkLst>
          <pc:docMk/>
          <pc:sldMk cId="2507210206" sldId="268"/>
        </pc:sldMkLst>
        <pc:spChg chg="add mod">
          <ac:chgData name="Sakshi Khantale" userId="f491327f82b0529d" providerId="LiveId" clId="{FD727033-EB90-4418-AE24-FF81A44D7059}" dt="2025-07-27T16:00:57.528" v="945" actId="113"/>
          <ac:spMkLst>
            <pc:docMk/>
            <pc:sldMk cId="2507210206" sldId="268"/>
            <ac:spMk id="4" creationId="{BB3B8797-E268-38DF-903F-CC0ACAA09F6D}"/>
          </ac:spMkLst>
        </pc:spChg>
        <pc:spChg chg="add del mod">
          <ac:chgData name="Sakshi Khantale" userId="f491327f82b0529d" providerId="LiveId" clId="{FD727033-EB90-4418-AE24-FF81A44D7059}" dt="2025-07-27T16:02:02.246" v="948" actId="1076"/>
          <ac:spMkLst>
            <pc:docMk/>
            <pc:sldMk cId="2507210206" sldId="268"/>
            <ac:spMk id="6" creationId="{AFAE6BAD-CB21-127D-6321-AAFE5D41DCB8}"/>
          </ac:spMkLst>
        </pc:spChg>
        <pc:spChg chg="add mod">
          <ac:chgData name="Sakshi Khantale" userId="f491327f82b0529d" providerId="LiveId" clId="{FD727033-EB90-4418-AE24-FF81A44D7059}" dt="2025-07-27T16:01:04.641" v="947" actId="113"/>
          <ac:spMkLst>
            <pc:docMk/>
            <pc:sldMk cId="2507210206" sldId="268"/>
            <ac:spMk id="8" creationId="{B11D4DAA-6A50-B6C5-6FD0-6C0C2B3EFE2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03FCF4-F75E-46A3-BDCD-77DABA2568AD}" type="datetimeFigureOut">
              <a:rPr lang="en-IN" smtClean="0"/>
              <a:t>17-08-2025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D5B746-8F3A-49A7-B5AA-37FA9C4B75F5}" type="slidenum">
              <a:rPr lang="en-IN" smtClean="0"/>
              <a:t>‹#›</a:t>
            </a:fld>
            <a:endParaRPr lang="en-IN"/>
          </a:p>
        </p:txBody>
      </p:sp>
    </p:spTree>
    <p:extLst>
      <p:ext uri="{BB962C8B-B14F-4D97-AF65-F5344CB8AC3E}">
        <p14:creationId xmlns:p14="http://schemas.microsoft.com/office/powerpoint/2010/main" val="2645225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 </a:t>
            </a:r>
          </a:p>
          <a:p>
            <a:endParaRPr lang="en-IN" dirty="0"/>
          </a:p>
          <a:p>
            <a:endParaRPr lang="en-IN" dirty="0"/>
          </a:p>
        </p:txBody>
      </p:sp>
      <p:sp>
        <p:nvSpPr>
          <p:cNvPr id="4" name="Slide Number Placeholder 3"/>
          <p:cNvSpPr>
            <a:spLocks noGrp="1"/>
          </p:cNvSpPr>
          <p:nvPr>
            <p:ph type="sldNum" sz="quarter" idx="5"/>
          </p:nvPr>
        </p:nvSpPr>
        <p:spPr/>
        <p:txBody>
          <a:bodyPr/>
          <a:lstStyle/>
          <a:p>
            <a:fld id="{63D5B746-8F3A-49A7-B5AA-37FA9C4B75F5}" type="slidenum">
              <a:rPr lang="en-IN" smtClean="0"/>
              <a:t>4</a:t>
            </a:fld>
            <a:endParaRPr lang="en-IN"/>
          </a:p>
        </p:txBody>
      </p:sp>
    </p:spTree>
    <p:extLst>
      <p:ext uri="{BB962C8B-B14F-4D97-AF65-F5344CB8AC3E}">
        <p14:creationId xmlns:p14="http://schemas.microsoft.com/office/powerpoint/2010/main" val="3771970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FEE53-698B-BE24-A930-B4E33DE60B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D53A9EC-75B5-E54D-38DE-14CA99D362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471488-BF0E-CA90-F461-530F40F497FF}"/>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5" name="Footer Placeholder 4">
            <a:extLst>
              <a:ext uri="{FF2B5EF4-FFF2-40B4-BE49-F238E27FC236}">
                <a16:creationId xmlns:a16="http://schemas.microsoft.com/office/drawing/2014/main" id="{FE9E1B09-E879-7E24-4449-02ED51F9FA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5D0C50-3ADC-32BE-0062-F017708CCF7C}"/>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2060968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A7E09-386A-F0ED-04B4-CB727CAD45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D01021-69C4-2D40-FA78-DC91C63C74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092C65-550E-FDDB-42C6-CEC24E66C889}"/>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5" name="Footer Placeholder 4">
            <a:extLst>
              <a:ext uri="{FF2B5EF4-FFF2-40B4-BE49-F238E27FC236}">
                <a16:creationId xmlns:a16="http://schemas.microsoft.com/office/drawing/2014/main" id="{036B8291-1FE5-7FE3-2775-D56CB1AAA3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8569E6-AB1D-6410-EC16-7B9F45FD67A2}"/>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3596365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0574E-AE8A-AF5C-420D-B076755F39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78AC63-002D-6D3C-CF0B-1F28A5BEBE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F8908F-2935-91BA-9C5C-F3E12F7AF2CD}"/>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5" name="Footer Placeholder 4">
            <a:extLst>
              <a:ext uri="{FF2B5EF4-FFF2-40B4-BE49-F238E27FC236}">
                <a16:creationId xmlns:a16="http://schemas.microsoft.com/office/drawing/2014/main" id="{87F5ADEB-BC67-1597-54E9-300768F514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B31845-C49A-3477-7642-41B3C26E3DE1}"/>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821040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B9219-5CC1-C952-5414-372DB411A6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FFC516-BB52-E24B-EAC2-430DF3FAB9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26460D-CD1E-5882-75AB-5ED77AA39B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7FC223-E49C-2863-BC24-F2C162371C89}"/>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6" name="Footer Placeholder 5">
            <a:extLst>
              <a:ext uri="{FF2B5EF4-FFF2-40B4-BE49-F238E27FC236}">
                <a16:creationId xmlns:a16="http://schemas.microsoft.com/office/drawing/2014/main" id="{39123A57-99CC-1EB2-149D-04F00AF6DB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5F8F3F-F133-DF22-02F7-215438CEDB39}"/>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2174725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E5266-B962-EBDA-6049-84E273784B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FD7D16-2341-5197-DF71-C6CA04F95D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1FA55C-8DF6-5A8E-7843-90EC415FB5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AC80FE-A5B1-4362-621F-CF98703B1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B0BC75-806D-FEEB-C24D-66B436EB45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4441A8-AD75-4A80-F43C-C363182762F6}"/>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8" name="Footer Placeholder 7">
            <a:extLst>
              <a:ext uri="{FF2B5EF4-FFF2-40B4-BE49-F238E27FC236}">
                <a16:creationId xmlns:a16="http://schemas.microsoft.com/office/drawing/2014/main" id="{777FBD5D-2A02-AA16-0C62-2C1C92B557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DD3A79-6709-178B-09F9-86F4EFEB5432}"/>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1568404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C6F0-6C1A-7DAC-2829-EDE459A2A5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27A1BE-3BB0-7CD2-04F1-663B0DB8A6D4}"/>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4" name="Footer Placeholder 3">
            <a:extLst>
              <a:ext uri="{FF2B5EF4-FFF2-40B4-BE49-F238E27FC236}">
                <a16:creationId xmlns:a16="http://schemas.microsoft.com/office/drawing/2014/main" id="{D230FB81-E59D-09DF-AA06-24F2C4614B1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1BB394-0245-72C1-4829-14E8700C08A0}"/>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3145419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CF729F-5EFE-351A-572F-409FAFC39CB1}"/>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3" name="Footer Placeholder 2">
            <a:extLst>
              <a:ext uri="{FF2B5EF4-FFF2-40B4-BE49-F238E27FC236}">
                <a16:creationId xmlns:a16="http://schemas.microsoft.com/office/drawing/2014/main" id="{9D1A413B-9D00-C51D-DD54-B735030B57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51C68E-9405-434F-79A8-5BF1FD1F87A8}"/>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891960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5D12A-F51E-0E2E-C05B-22A5008FE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9A6A7A-C04C-BE18-8F39-21653184FB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2FEC76-2907-12D8-3328-8AAB36AAE5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A78FDB-A3C8-F5DB-9423-00316F0BD62D}"/>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6" name="Footer Placeholder 5">
            <a:extLst>
              <a:ext uri="{FF2B5EF4-FFF2-40B4-BE49-F238E27FC236}">
                <a16:creationId xmlns:a16="http://schemas.microsoft.com/office/drawing/2014/main" id="{37341B0B-60FD-16F0-0157-34136C4C2E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F697D9-BAD0-1EE2-5DBF-23CAF5CE61F6}"/>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2342157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4AE71-5141-D040-FE48-177DCA8A90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79612A-95EC-4C99-B081-D6FD2798B1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75B176-54BE-4AFF-0F22-65C74AA838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3CA25-5598-F065-7DFD-972E5272E1EE}"/>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6" name="Footer Placeholder 5">
            <a:extLst>
              <a:ext uri="{FF2B5EF4-FFF2-40B4-BE49-F238E27FC236}">
                <a16:creationId xmlns:a16="http://schemas.microsoft.com/office/drawing/2014/main" id="{0F61CC24-DB6F-4B4A-4FCD-98B465295F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B60985-C074-2648-3DCB-69BA014B9D1A}"/>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2783911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85B3B-A67E-9A63-219D-FB0DB74F5D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FAE8C6-8108-FE09-BD74-47F320543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4C4CEC-7F60-70B2-C61B-38DC87A2B966}"/>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5" name="Footer Placeholder 4">
            <a:extLst>
              <a:ext uri="{FF2B5EF4-FFF2-40B4-BE49-F238E27FC236}">
                <a16:creationId xmlns:a16="http://schemas.microsoft.com/office/drawing/2014/main" id="{24357B57-5559-8F26-722A-5C6F5FB538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E3C9AC-8696-FBFE-DAEF-8C505FAFE747}"/>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1970681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689F34-30CC-FFB2-CE30-CA7DB8B66A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524C97-63EA-4D73-CCFD-B8B262B41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797970-E29D-34D8-2E6B-3B4042424929}"/>
              </a:ext>
            </a:extLst>
          </p:cNvPr>
          <p:cNvSpPr>
            <a:spLocks noGrp="1"/>
          </p:cNvSpPr>
          <p:nvPr>
            <p:ph type="dt" sz="half" idx="10"/>
          </p:nvPr>
        </p:nvSpPr>
        <p:spPr/>
        <p:txBody>
          <a:bodyPr/>
          <a:lstStyle/>
          <a:p>
            <a:fld id="{A94D6C25-4453-4F7B-A183-257F38F948FE}" type="datetimeFigureOut">
              <a:rPr lang="en-IN" smtClean="0"/>
              <a:t>17-08-2025</a:t>
            </a:fld>
            <a:endParaRPr lang="en-IN"/>
          </a:p>
        </p:txBody>
      </p:sp>
      <p:sp>
        <p:nvSpPr>
          <p:cNvPr id="5" name="Footer Placeholder 4">
            <a:extLst>
              <a:ext uri="{FF2B5EF4-FFF2-40B4-BE49-F238E27FC236}">
                <a16:creationId xmlns:a16="http://schemas.microsoft.com/office/drawing/2014/main" id="{58F6BCD4-7E01-47C3-DEC2-E92D60636B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F3E8F4-F17E-B80D-F798-5BDEB5E83ABB}"/>
              </a:ext>
            </a:extLst>
          </p:cNvPr>
          <p:cNvSpPr>
            <a:spLocks noGrp="1"/>
          </p:cNvSpPr>
          <p:nvPr>
            <p:ph type="sldNum" sz="quarter" idx="12"/>
          </p:nvPr>
        </p:nvSpPr>
        <p:spPr/>
        <p:txBody>
          <a:bodyPr/>
          <a:lstStyle/>
          <a:p>
            <a:fld id="{03A17CE7-1278-42C6-A020-0BC951C58EFB}" type="slidenum">
              <a:rPr lang="en-IN" smtClean="0"/>
              <a:t>‹#›</a:t>
            </a:fld>
            <a:endParaRPr lang="en-IN"/>
          </a:p>
        </p:txBody>
      </p:sp>
    </p:spTree>
    <p:extLst>
      <p:ext uri="{BB962C8B-B14F-4D97-AF65-F5344CB8AC3E}">
        <p14:creationId xmlns:p14="http://schemas.microsoft.com/office/powerpoint/2010/main" val="908158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0D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D0A166-7525-148E-4FEE-980A9C0D27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435CE7-76E0-F68B-BCA5-FA3FD88EA4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73D8EE-DBA5-899A-024C-EA1DF260C4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4D6C25-4453-4F7B-A183-257F38F948FE}" type="datetimeFigureOut">
              <a:rPr lang="en-IN" smtClean="0"/>
              <a:t>17-08-2025</a:t>
            </a:fld>
            <a:endParaRPr lang="en-IN"/>
          </a:p>
        </p:txBody>
      </p:sp>
      <p:sp>
        <p:nvSpPr>
          <p:cNvPr id="5" name="Footer Placeholder 4">
            <a:extLst>
              <a:ext uri="{FF2B5EF4-FFF2-40B4-BE49-F238E27FC236}">
                <a16:creationId xmlns:a16="http://schemas.microsoft.com/office/drawing/2014/main" id="{0C98FF5D-53E6-7768-54F0-E3AD88DCBC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409694-148A-63F9-0728-6D61874AFA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A17CE7-1278-42C6-A020-0BC951C58EFB}" type="slidenum">
              <a:rPr lang="en-IN" smtClean="0"/>
              <a:t>‹#›</a:t>
            </a:fld>
            <a:endParaRPr lang="en-IN"/>
          </a:p>
        </p:txBody>
      </p:sp>
    </p:spTree>
    <p:extLst>
      <p:ext uri="{BB962C8B-B14F-4D97-AF65-F5344CB8AC3E}">
        <p14:creationId xmlns:p14="http://schemas.microsoft.com/office/powerpoint/2010/main" val="219595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3EDAB-5F5E-9469-508E-AAE99FD38DE4}"/>
              </a:ext>
            </a:extLst>
          </p:cNvPr>
          <p:cNvSpPr>
            <a:spLocks noGrp="1"/>
          </p:cNvSpPr>
          <p:nvPr>
            <p:ph type="ctrTitle"/>
          </p:nvPr>
        </p:nvSpPr>
        <p:spPr/>
        <p:txBody>
          <a:bodyPr/>
          <a:lstStyle/>
          <a:p>
            <a:r>
              <a:rPr lang="en-US" dirty="0"/>
              <a:t>Domain</a:t>
            </a:r>
            <a:endParaRPr lang="en-IN" dirty="0"/>
          </a:p>
        </p:txBody>
      </p:sp>
      <p:sp>
        <p:nvSpPr>
          <p:cNvPr id="3" name="Subtitle 2">
            <a:extLst>
              <a:ext uri="{FF2B5EF4-FFF2-40B4-BE49-F238E27FC236}">
                <a16:creationId xmlns:a16="http://schemas.microsoft.com/office/drawing/2014/main" id="{CB1754C4-E807-DBCA-C7F4-6B6CD88EEA31}"/>
              </a:ext>
            </a:extLst>
          </p:cNvPr>
          <p:cNvSpPr>
            <a:spLocks noGrp="1"/>
          </p:cNvSpPr>
          <p:nvPr>
            <p:ph type="subTitle" idx="1"/>
          </p:nvPr>
        </p:nvSpPr>
        <p:spPr/>
        <p:txBody>
          <a:bodyPr/>
          <a:lstStyle/>
          <a:p>
            <a:r>
              <a:rPr lang="en-US" sz="3200" dirty="0"/>
              <a:t>E-commerce</a:t>
            </a:r>
          </a:p>
          <a:p>
            <a:endParaRPr lang="en-IN" dirty="0"/>
          </a:p>
        </p:txBody>
      </p:sp>
    </p:spTree>
    <p:extLst>
      <p:ext uri="{BB962C8B-B14F-4D97-AF65-F5344CB8AC3E}">
        <p14:creationId xmlns:p14="http://schemas.microsoft.com/office/powerpoint/2010/main" val="3113243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E0D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131D2-5B56-5DE3-3065-9733D7668068}"/>
              </a:ext>
            </a:extLst>
          </p:cNvPr>
          <p:cNvSpPr>
            <a:spLocks noGrp="1"/>
          </p:cNvSpPr>
          <p:nvPr>
            <p:ph type="title"/>
          </p:nvPr>
        </p:nvSpPr>
        <p:spPr/>
        <p:txBody>
          <a:bodyPr/>
          <a:lstStyle/>
          <a:p>
            <a:r>
              <a:rPr lang="en-US" dirty="0"/>
              <a:t>E-commerce</a:t>
            </a:r>
            <a:endParaRPr lang="en-IN" dirty="0"/>
          </a:p>
        </p:txBody>
      </p:sp>
      <p:sp>
        <p:nvSpPr>
          <p:cNvPr id="3" name="Content Placeholder 2">
            <a:extLst>
              <a:ext uri="{FF2B5EF4-FFF2-40B4-BE49-F238E27FC236}">
                <a16:creationId xmlns:a16="http://schemas.microsoft.com/office/drawing/2014/main" id="{C10352EB-494B-F7F6-57EA-B7382DF8C681}"/>
              </a:ext>
            </a:extLst>
          </p:cNvPr>
          <p:cNvSpPr>
            <a:spLocks noGrp="1"/>
          </p:cNvSpPr>
          <p:nvPr>
            <p:ph idx="1"/>
          </p:nvPr>
        </p:nvSpPr>
        <p:spPr/>
        <p:txBody>
          <a:bodyPr>
            <a:normAutofit/>
          </a:bodyPr>
          <a:lstStyle/>
          <a:p>
            <a:pPr marL="0" indent="0">
              <a:buNone/>
            </a:pPr>
            <a:r>
              <a:rPr lang="en-IN" sz="2400" dirty="0"/>
              <a:t>E-commerce means buying and selling things using the internet. </a:t>
            </a:r>
            <a:r>
              <a:rPr lang="en-IN" sz="2400"/>
              <a:t>It includes : Online </a:t>
            </a:r>
            <a:r>
              <a:rPr lang="en-IN" sz="2400" dirty="0"/>
              <a:t>shopping (buying products), Online services (like Netflix or online courses) and Online payments (like using UPI or Paytm).</a:t>
            </a:r>
          </a:p>
          <a:p>
            <a:pPr marL="0" indent="0">
              <a:buNone/>
            </a:pPr>
            <a:endParaRPr lang="en-IN" sz="2400" dirty="0"/>
          </a:p>
          <a:p>
            <a:pPr marL="0" indent="0">
              <a:buNone/>
            </a:pPr>
            <a:r>
              <a:rPr lang="en-IN" sz="2400" dirty="0"/>
              <a:t>This project </a:t>
            </a:r>
            <a:r>
              <a:rPr lang="en-IN" sz="2400" dirty="0" err="1"/>
              <a:t>analyzes</a:t>
            </a:r>
            <a:r>
              <a:rPr lang="en-IN" sz="2400" dirty="0"/>
              <a:t> e-commerce sales data breaking it down by store, product type, category, and transaction timing, to help businesses make smarter decisions.</a:t>
            </a:r>
          </a:p>
          <a:p>
            <a:endParaRPr lang="en-IN" dirty="0"/>
          </a:p>
          <a:p>
            <a:pPr marL="0" indent="0">
              <a:buNone/>
            </a:pPr>
            <a:r>
              <a:rPr lang="en-US" dirty="0"/>
              <a:t> </a:t>
            </a:r>
            <a:endParaRPr lang="en-IN" dirty="0"/>
          </a:p>
          <a:p>
            <a:endParaRPr lang="en-IN" dirty="0"/>
          </a:p>
        </p:txBody>
      </p:sp>
    </p:spTree>
    <p:extLst>
      <p:ext uri="{BB962C8B-B14F-4D97-AF65-F5344CB8AC3E}">
        <p14:creationId xmlns:p14="http://schemas.microsoft.com/office/powerpoint/2010/main" val="2615765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5483-0ED2-5A0D-262D-2512C07EFB0E}"/>
              </a:ext>
            </a:extLst>
          </p:cNvPr>
          <p:cNvSpPr>
            <a:spLocks noGrp="1"/>
          </p:cNvSpPr>
          <p:nvPr>
            <p:ph type="ctrTitle"/>
          </p:nvPr>
        </p:nvSpPr>
        <p:spPr/>
        <p:txBody>
          <a:bodyPr/>
          <a:lstStyle/>
          <a:p>
            <a:r>
              <a:rPr lang="en-US" dirty="0"/>
              <a:t>Project Title</a:t>
            </a:r>
            <a:endParaRPr lang="en-IN" dirty="0"/>
          </a:p>
        </p:txBody>
      </p:sp>
      <p:sp>
        <p:nvSpPr>
          <p:cNvPr id="3" name="Subtitle 2">
            <a:extLst>
              <a:ext uri="{FF2B5EF4-FFF2-40B4-BE49-F238E27FC236}">
                <a16:creationId xmlns:a16="http://schemas.microsoft.com/office/drawing/2014/main" id="{0C24F934-FFFF-096B-BE98-E0EB2B247190}"/>
              </a:ext>
            </a:extLst>
          </p:cNvPr>
          <p:cNvSpPr>
            <a:spLocks noGrp="1"/>
          </p:cNvSpPr>
          <p:nvPr>
            <p:ph type="subTitle" idx="1"/>
          </p:nvPr>
        </p:nvSpPr>
        <p:spPr>
          <a:xfrm>
            <a:off x="1337187" y="3509963"/>
            <a:ext cx="9144000" cy="1655762"/>
          </a:xfrm>
          <a:solidFill>
            <a:srgbClr val="ECE0D1"/>
          </a:solidFill>
          <a:ln>
            <a:solidFill>
              <a:srgbClr val="ECE0D1"/>
            </a:solidFill>
          </a:ln>
        </p:spPr>
        <p:txBody>
          <a:bodyPr>
            <a:normAutofit/>
          </a:bodyPr>
          <a:lstStyle/>
          <a:p>
            <a:pPr lvl="1"/>
            <a:r>
              <a:rPr lang="en-US" sz="4000" dirty="0">
                <a:solidFill>
                  <a:srgbClr val="967259"/>
                </a:solidFill>
              </a:rPr>
              <a:t>Coffee Shop Sales </a:t>
            </a:r>
            <a:endParaRPr lang="en-IN" sz="4000" dirty="0">
              <a:solidFill>
                <a:srgbClr val="967259"/>
              </a:solidFill>
            </a:endParaRPr>
          </a:p>
        </p:txBody>
      </p:sp>
    </p:spTree>
    <p:extLst>
      <p:ext uri="{BB962C8B-B14F-4D97-AF65-F5344CB8AC3E}">
        <p14:creationId xmlns:p14="http://schemas.microsoft.com/office/powerpoint/2010/main" val="3802883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E266B8-F292-D72B-EE63-C466BC9B5B60}"/>
              </a:ext>
            </a:extLst>
          </p:cNvPr>
          <p:cNvSpPr txBox="1"/>
          <p:nvPr/>
        </p:nvSpPr>
        <p:spPr>
          <a:xfrm>
            <a:off x="1307691" y="1258980"/>
            <a:ext cx="9566786" cy="830997"/>
          </a:xfrm>
          <a:prstGeom prst="rect">
            <a:avLst/>
          </a:prstGeom>
          <a:noFill/>
        </p:spPr>
        <p:txBody>
          <a:bodyPr wrap="square">
            <a:spAutoFit/>
          </a:bodyPr>
          <a:lstStyle/>
          <a:p>
            <a:pPr algn="just"/>
            <a:r>
              <a:rPr lang="en-US" sz="2400" dirty="0"/>
              <a:t>This dashboard helps you track sales, profits, and profit margins across different areas like  stores, categories and customer groups.</a:t>
            </a:r>
          </a:p>
        </p:txBody>
      </p:sp>
      <p:sp>
        <p:nvSpPr>
          <p:cNvPr id="5" name="TextBox 4">
            <a:extLst>
              <a:ext uri="{FF2B5EF4-FFF2-40B4-BE49-F238E27FC236}">
                <a16:creationId xmlns:a16="http://schemas.microsoft.com/office/drawing/2014/main" id="{6870945E-ADB7-3FE7-9726-902BABA16427}"/>
              </a:ext>
            </a:extLst>
          </p:cNvPr>
          <p:cNvSpPr txBox="1"/>
          <p:nvPr/>
        </p:nvSpPr>
        <p:spPr>
          <a:xfrm>
            <a:off x="1307691" y="2131508"/>
            <a:ext cx="9566786" cy="2308324"/>
          </a:xfrm>
          <a:prstGeom prst="rect">
            <a:avLst/>
          </a:prstGeom>
          <a:noFill/>
        </p:spPr>
        <p:txBody>
          <a:bodyPr wrap="square">
            <a:spAutoFit/>
          </a:bodyPr>
          <a:lstStyle/>
          <a:p>
            <a:pPr algn="just"/>
            <a:endParaRPr lang="en-US" sz="2400" dirty="0"/>
          </a:p>
          <a:p>
            <a:pPr algn="just"/>
            <a:r>
              <a:rPr lang="en-US" sz="2400" dirty="0"/>
              <a:t>This project involves building an interactive and visually appealing Excel dashboard to analyze and track the sales performance of a coffee shop. The dashboard presents key sales metrics such as daily/weekly/monthly revenue, best-selling items, category trends, and customer patterns using charts, pivot tables, and slicers.</a:t>
            </a:r>
            <a:endParaRPr lang="en-IN" sz="2400" dirty="0"/>
          </a:p>
        </p:txBody>
      </p:sp>
    </p:spTree>
    <p:extLst>
      <p:ext uri="{BB962C8B-B14F-4D97-AF65-F5344CB8AC3E}">
        <p14:creationId xmlns:p14="http://schemas.microsoft.com/office/powerpoint/2010/main" val="42989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387E0-AFBD-2610-6BD2-2EE186E7E7E3}"/>
              </a:ext>
            </a:extLst>
          </p:cNvPr>
          <p:cNvSpPr>
            <a:spLocks noGrp="1"/>
          </p:cNvSpPr>
          <p:nvPr>
            <p:ph type="title"/>
          </p:nvPr>
        </p:nvSpPr>
        <p:spPr>
          <a:xfrm>
            <a:off x="838200" y="247138"/>
            <a:ext cx="10515600" cy="1325563"/>
          </a:xfrm>
          <a:solidFill>
            <a:srgbClr val="ECE0D1"/>
          </a:solidFill>
          <a:ln>
            <a:solidFill>
              <a:srgbClr val="ECE0D1"/>
            </a:solidFill>
          </a:ln>
        </p:spPr>
        <p:txBody>
          <a:bodyPr>
            <a:normAutofit/>
          </a:bodyPr>
          <a:lstStyle/>
          <a:p>
            <a:r>
              <a:rPr lang="en-US" sz="4000" dirty="0">
                <a:solidFill>
                  <a:srgbClr val="634832"/>
                </a:solidFill>
              </a:rPr>
              <a:t>Storyline of the Project</a:t>
            </a:r>
            <a:endParaRPr lang="en-IN" sz="4000" dirty="0">
              <a:solidFill>
                <a:srgbClr val="634832"/>
              </a:solidFill>
            </a:endParaRPr>
          </a:p>
        </p:txBody>
      </p:sp>
      <p:sp>
        <p:nvSpPr>
          <p:cNvPr id="3" name="Content Placeholder 2">
            <a:extLst>
              <a:ext uri="{FF2B5EF4-FFF2-40B4-BE49-F238E27FC236}">
                <a16:creationId xmlns:a16="http://schemas.microsoft.com/office/drawing/2014/main" id="{53F53990-EEB9-A055-FE5E-B8B47367575E}"/>
              </a:ext>
            </a:extLst>
          </p:cNvPr>
          <p:cNvSpPr>
            <a:spLocks noGrp="1"/>
          </p:cNvSpPr>
          <p:nvPr>
            <p:ph idx="1"/>
          </p:nvPr>
        </p:nvSpPr>
        <p:spPr>
          <a:solidFill>
            <a:srgbClr val="ECE0D1"/>
          </a:solidFill>
        </p:spPr>
        <p:txBody>
          <a:bodyPr/>
          <a:lstStyle/>
          <a:p>
            <a:pPr marL="0" indent="0">
              <a:buNone/>
            </a:pPr>
            <a:r>
              <a:rPr lang="en-IN" sz="2400" b="1" dirty="0">
                <a:solidFill>
                  <a:srgbClr val="967259"/>
                </a:solidFill>
              </a:rPr>
              <a:t>1. Problem Statement</a:t>
            </a:r>
          </a:p>
          <a:p>
            <a:pPr marL="0" indent="0" algn="just">
              <a:buNone/>
            </a:pPr>
            <a:r>
              <a:rPr lang="en-US" sz="2400" dirty="0"/>
              <a:t>The coffee shop was relying on manual tracking, limiting visibility into trends like bestselling items, peak hours, and revenue growth. The aim was to transform raw data into an intuitive dashboard for better decision-making</a:t>
            </a:r>
            <a:r>
              <a:rPr lang="en-US" dirty="0"/>
              <a:t>.</a:t>
            </a:r>
          </a:p>
          <a:p>
            <a:pPr marL="0" indent="0" algn="just">
              <a:buNone/>
            </a:pPr>
            <a:endParaRPr lang="en-US" dirty="0">
              <a:solidFill>
                <a:srgbClr val="967259"/>
              </a:solidFill>
            </a:endParaRPr>
          </a:p>
          <a:p>
            <a:pPr marL="0" indent="0">
              <a:buNone/>
            </a:pPr>
            <a:r>
              <a:rPr lang="en-US" sz="2400" b="1" dirty="0">
                <a:solidFill>
                  <a:srgbClr val="967259"/>
                </a:solidFill>
              </a:rPr>
              <a:t>2. Goal</a:t>
            </a:r>
          </a:p>
          <a:p>
            <a:pPr marL="0" indent="0">
              <a:buNone/>
            </a:pPr>
            <a:r>
              <a:rPr lang="en-US" sz="2400" dirty="0"/>
              <a:t>Create a dynamic Excel dashboard featuring visuals and filters (timeline, slicers) to help users analyze revenue by time period, product category, location, and customer behavior.</a:t>
            </a:r>
          </a:p>
          <a:p>
            <a:pPr marL="0" indent="0" algn="just">
              <a:buNone/>
            </a:pPr>
            <a:endParaRPr lang="en-IN" dirty="0">
              <a:solidFill>
                <a:srgbClr val="967259"/>
              </a:solidFill>
            </a:endParaRPr>
          </a:p>
        </p:txBody>
      </p:sp>
    </p:spTree>
    <p:extLst>
      <p:ext uri="{BB962C8B-B14F-4D97-AF65-F5344CB8AC3E}">
        <p14:creationId xmlns:p14="http://schemas.microsoft.com/office/powerpoint/2010/main" val="545383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EC0236-1400-B6F9-E18E-92E814F37F55}"/>
              </a:ext>
            </a:extLst>
          </p:cNvPr>
          <p:cNvSpPr txBox="1"/>
          <p:nvPr/>
        </p:nvSpPr>
        <p:spPr>
          <a:xfrm>
            <a:off x="1130709" y="339359"/>
            <a:ext cx="9871588" cy="3016210"/>
          </a:xfrm>
          <a:prstGeom prst="rect">
            <a:avLst/>
          </a:prstGeom>
          <a:noFill/>
        </p:spPr>
        <p:txBody>
          <a:bodyPr wrap="square">
            <a:spAutoFit/>
          </a:bodyPr>
          <a:lstStyle/>
          <a:p>
            <a:pPr>
              <a:buNone/>
            </a:pPr>
            <a:r>
              <a:rPr lang="en-US" sz="2400" b="1" dirty="0">
                <a:solidFill>
                  <a:srgbClr val="967259"/>
                </a:solidFill>
              </a:rPr>
              <a:t>3. Data Collection</a:t>
            </a:r>
          </a:p>
          <a:p>
            <a:pPr>
              <a:buNone/>
            </a:pPr>
            <a:endParaRPr lang="en-US" b="1" dirty="0"/>
          </a:p>
          <a:p>
            <a:pPr>
              <a:buNone/>
            </a:pPr>
            <a:r>
              <a:rPr lang="en-US" sz="2400" dirty="0"/>
              <a:t>Collect transactional data with fields such as:</a:t>
            </a:r>
          </a:p>
          <a:p>
            <a:pPr>
              <a:buFont typeface="Arial" panose="020B0604020202020204" pitchFamily="34" charset="0"/>
              <a:buChar char="•"/>
            </a:pPr>
            <a:r>
              <a:rPr lang="en-US" sz="2400" dirty="0"/>
              <a:t> Date &amp; time</a:t>
            </a:r>
          </a:p>
          <a:p>
            <a:pPr algn="just">
              <a:buFont typeface="Arial" panose="020B0604020202020204" pitchFamily="34" charset="0"/>
              <a:buChar char="•"/>
            </a:pPr>
            <a:r>
              <a:rPr lang="en-US" sz="2400" dirty="0"/>
              <a:t> Branch location</a:t>
            </a:r>
          </a:p>
          <a:p>
            <a:pPr>
              <a:buFont typeface="Arial" panose="020B0604020202020204" pitchFamily="34" charset="0"/>
              <a:buChar char="•"/>
            </a:pPr>
            <a:r>
              <a:rPr lang="en-US" sz="2400" dirty="0"/>
              <a:t> Product ID, category, size</a:t>
            </a:r>
          </a:p>
          <a:p>
            <a:pPr>
              <a:buFont typeface="Arial" panose="020B0604020202020204" pitchFamily="34" charset="0"/>
              <a:buChar char="•"/>
            </a:pPr>
            <a:r>
              <a:rPr lang="en-US" sz="2400" dirty="0"/>
              <a:t> Price, quantity, total revenue</a:t>
            </a:r>
          </a:p>
          <a:p>
            <a:r>
              <a:rPr lang="en-US" sz="2400" dirty="0" err="1"/>
              <a:t>Eports</a:t>
            </a:r>
            <a:r>
              <a:rPr lang="en-US" sz="2400" dirty="0"/>
              <a:t> data from </a:t>
            </a:r>
            <a:r>
              <a:rPr lang="en-US" sz="2400" dirty="0" err="1"/>
              <a:t>Github</a:t>
            </a:r>
            <a:r>
              <a:rPr lang="en-US" sz="2400" dirty="0"/>
              <a:t>.</a:t>
            </a:r>
          </a:p>
        </p:txBody>
      </p:sp>
      <p:sp>
        <p:nvSpPr>
          <p:cNvPr id="5" name="TextBox 4">
            <a:extLst>
              <a:ext uri="{FF2B5EF4-FFF2-40B4-BE49-F238E27FC236}">
                <a16:creationId xmlns:a16="http://schemas.microsoft.com/office/drawing/2014/main" id="{B4F4DE0D-6E78-8919-CB30-63664EED6014}"/>
              </a:ext>
            </a:extLst>
          </p:cNvPr>
          <p:cNvSpPr txBox="1"/>
          <p:nvPr/>
        </p:nvSpPr>
        <p:spPr>
          <a:xfrm>
            <a:off x="1189703" y="3094288"/>
            <a:ext cx="8052620" cy="892552"/>
          </a:xfrm>
          <a:prstGeom prst="rect">
            <a:avLst/>
          </a:prstGeom>
          <a:noFill/>
        </p:spPr>
        <p:txBody>
          <a:bodyPr wrap="square">
            <a:spAutoFit/>
          </a:bodyPr>
          <a:lstStyle/>
          <a:p>
            <a:endParaRPr lang="en-IN" sz="2800" b="1" dirty="0">
              <a:solidFill>
                <a:srgbClr val="967259"/>
              </a:solidFill>
            </a:endParaRPr>
          </a:p>
          <a:p>
            <a:r>
              <a:rPr lang="en-IN" sz="2400" b="1" dirty="0">
                <a:solidFill>
                  <a:srgbClr val="967259"/>
                </a:solidFill>
              </a:rPr>
              <a:t>4. Data Preparation</a:t>
            </a:r>
          </a:p>
        </p:txBody>
      </p:sp>
      <p:sp>
        <p:nvSpPr>
          <p:cNvPr id="7" name="TextBox 6">
            <a:extLst>
              <a:ext uri="{FF2B5EF4-FFF2-40B4-BE49-F238E27FC236}">
                <a16:creationId xmlns:a16="http://schemas.microsoft.com/office/drawing/2014/main" id="{07F9DE56-2B05-8262-B674-ABC3A00BF913}"/>
              </a:ext>
            </a:extLst>
          </p:cNvPr>
          <p:cNvSpPr txBox="1"/>
          <p:nvPr/>
        </p:nvSpPr>
        <p:spPr>
          <a:xfrm>
            <a:off x="1130709" y="4200899"/>
            <a:ext cx="6096000" cy="461665"/>
          </a:xfrm>
          <a:prstGeom prst="rect">
            <a:avLst/>
          </a:prstGeom>
          <a:noFill/>
        </p:spPr>
        <p:txBody>
          <a:bodyPr wrap="square">
            <a:spAutoFit/>
          </a:bodyPr>
          <a:lstStyle/>
          <a:p>
            <a:r>
              <a:rPr lang="en-US" sz="2400" dirty="0"/>
              <a:t>1. Combine and Organize Data:</a:t>
            </a:r>
            <a:endParaRPr lang="en-IN" sz="2400" dirty="0"/>
          </a:p>
        </p:txBody>
      </p:sp>
      <p:sp>
        <p:nvSpPr>
          <p:cNvPr id="9" name="TextBox 8">
            <a:extLst>
              <a:ext uri="{FF2B5EF4-FFF2-40B4-BE49-F238E27FC236}">
                <a16:creationId xmlns:a16="http://schemas.microsoft.com/office/drawing/2014/main" id="{9CA93AD4-22D0-9F6D-2454-622AA80681E5}"/>
              </a:ext>
            </a:extLst>
          </p:cNvPr>
          <p:cNvSpPr txBox="1"/>
          <p:nvPr/>
        </p:nvSpPr>
        <p:spPr>
          <a:xfrm>
            <a:off x="1130709" y="4741222"/>
            <a:ext cx="9222658" cy="1569660"/>
          </a:xfrm>
          <a:prstGeom prst="rect">
            <a:avLst/>
          </a:prstGeom>
          <a:noFill/>
        </p:spPr>
        <p:txBody>
          <a:bodyPr wrap="square">
            <a:spAutoFit/>
          </a:bodyPr>
          <a:lstStyle/>
          <a:p>
            <a:pPr>
              <a:buNone/>
            </a:pPr>
            <a:r>
              <a:rPr lang="en-US" sz="2400" dirty="0"/>
              <a:t>You typically start with several separate tables:</a:t>
            </a:r>
          </a:p>
          <a:p>
            <a:pPr marL="342900" indent="-342900">
              <a:buFont typeface="Arial" panose="020B0604020202020204" pitchFamily="34" charset="0"/>
              <a:buChar char="•"/>
            </a:pPr>
            <a:r>
              <a:rPr lang="en-US" sz="2400" dirty="0"/>
              <a:t>Orders (transaction date, product IDs, quantities)</a:t>
            </a:r>
          </a:p>
          <a:p>
            <a:pPr marL="342900" indent="-342900" algn="just">
              <a:buFont typeface="Arial" panose="020B0604020202020204" pitchFamily="34" charset="0"/>
              <a:buChar char="•"/>
            </a:pPr>
            <a:r>
              <a:rPr lang="en-US" sz="2400" dirty="0"/>
              <a:t>Customers (transaction id, country, loyalty status)</a:t>
            </a:r>
          </a:p>
          <a:p>
            <a:pPr marL="342900" indent="-342900">
              <a:buFont typeface="Arial" panose="020B0604020202020204" pitchFamily="34" charset="0"/>
              <a:buChar char="•"/>
            </a:pPr>
            <a:r>
              <a:rPr lang="en-US" sz="2400" dirty="0"/>
              <a:t>Products (product ID, type, category, size, unit price)</a:t>
            </a:r>
          </a:p>
        </p:txBody>
      </p:sp>
    </p:spTree>
    <p:extLst>
      <p:ext uri="{BB962C8B-B14F-4D97-AF65-F5344CB8AC3E}">
        <p14:creationId xmlns:p14="http://schemas.microsoft.com/office/powerpoint/2010/main" val="2501284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0C5F64-F462-6480-60AE-8D21C737D924}"/>
              </a:ext>
            </a:extLst>
          </p:cNvPr>
          <p:cNvSpPr txBox="1"/>
          <p:nvPr/>
        </p:nvSpPr>
        <p:spPr>
          <a:xfrm>
            <a:off x="796412" y="474095"/>
            <a:ext cx="10569677" cy="461665"/>
          </a:xfrm>
          <a:prstGeom prst="rect">
            <a:avLst/>
          </a:prstGeom>
          <a:noFill/>
        </p:spPr>
        <p:txBody>
          <a:bodyPr wrap="square">
            <a:spAutoFit/>
          </a:bodyPr>
          <a:lstStyle/>
          <a:p>
            <a:r>
              <a:rPr lang="en-US" sz="2400" dirty="0"/>
              <a:t>2. Clean data: </a:t>
            </a:r>
          </a:p>
        </p:txBody>
      </p:sp>
      <p:sp>
        <p:nvSpPr>
          <p:cNvPr id="7" name="TextBox 6">
            <a:extLst>
              <a:ext uri="{FF2B5EF4-FFF2-40B4-BE49-F238E27FC236}">
                <a16:creationId xmlns:a16="http://schemas.microsoft.com/office/drawing/2014/main" id="{A7EE759C-EA24-B18F-C41B-9694B2236457}"/>
              </a:ext>
            </a:extLst>
          </p:cNvPr>
          <p:cNvSpPr txBox="1"/>
          <p:nvPr/>
        </p:nvSpPr>
        <p:spPr>
          <a:xfrm>
            <a:off x="796411" y="1069804"/>
            <a:ext cx="10217658" cy="1200329"/>
          </a:xfrm>
          <a:prstGeom prst="rect">
            <a:avLst/>
          </a:prstGeom>
          <a:noFill/>
        </p:spPr>
        <p:txBody>
          <a:bodyPr wrap="square">
            <a:spAutoFit/>
          </a:bodyPr>
          <a:lstStyle/>
          <a:p>
            <a:pPr marL="342900" indent="-342900" algn="just">
              <a:buFont typeface="Arial" panose="020B0604020202020204" pitchFamily="34" charset="0"/>
              <a:buChar char="•"/>
            </a:pPr>
            <a:r>
              <a:rPr lang="en-US" sz="2400" dirty="0"/>
              <a:t>Correct formats, compute new columns, remove unnecessary data. </a:t>
            </a:r>
          </a:p>
          <a:p>
            <a:pPr marL="342900" indent="-342900" algn="just">
              <a:buFont typeface="Arial" panose="020B0604020202020204" pitchFamily="34" charset="0"/>
              <a:buChar char="•"/>
            </a:pPr>
            <a:r>
              <a:rPr lang="en-US" sz="2400" dirty="0"/>
              <a:t>Ensure column formats are consistent—dates should remain dates, numbers as numbers, etc.   </a:t>
            </a:r>
            <a:endParaRPr lang="en-IN" sz="2400" dirty="0"/>
          </a:p>
        </p:txBody>
      </p:sp>
      <p:sp>
        <p:nvSpPr>
          <p:cNvPr id="9" name="TextBox 8">
            <a:extLst>
              <a:ext uri="{FF2B5EF4-FFF2-40B4-BE49-F238E27FC236}">
                <a16:creationId xmlns:a16="http://schemas.microsoft.com/office/drawing/2014/main" id="{8BAB4983-D736-3EA8-A85B-45D60F4D5E7A}"/>
              </a:ext>
            </a:extLst>
          </p:cNvPr>
          <p:cNvSpPr txBox="1"/>
          <p:nvPr/>
        </p:nvSpPr>
        <p:spPr>
          <a:xfrm>
            <a:off x="796411" y="2597754"/>
            <a:ext cx="10569677" cy="2677656"/>
          </a:xfrm>
          <a:prstGeom prst="rect">
            <a:avLst/>
          </a:prstGeom>
          <a:noFill/>
        </p:spPr>
        <p:txBody>
          <a:bodyPr wrap="square">
            <a:spAutoFit/>
          </a:bodyPr>
          <a:lstStyle/>
          <a:p>
            <a:r>
              <a:rPr lang="en-IN" sz="2400" dirty="0"/>
              <a:t>3. Create Useful Columns: </a:t>
            </a:r>
          </a:p>
          <a:p>
            <a:pPr algn="just"/>
            <a:endParaRPr lang="en-IN" sz="2400" dirty="0"/>
          </a:p>
          <a:p>
            <a:pPr marL="342900" indent="-342900" algn="just">
              <a:buFont typeface="Arial" panose="020B0604020202020204" pitchFamily="34" charset="0"/>
              <a:buChar char="•"/>
            </a:pPr>
            <a:r>
              <a:rPr lang="en-US" sz="2400" dirty="0"/>
              <a:t>Add a Total Bill or Revenue column, calculated as: </a:t>
            </a:r>
            <a:r>
              <a:rPr lang="en-IN" sz="2400" dirty="0"/>
              <a:t>Revenue = Quantity × Unit price.</a:t>
            </a:r>
          </a:p>
          <a:p>
            <a:pPr marL="342900" indent="-342900">
              <a:buFont typeface="Arial" panose="020B0604020202020204" pitchFamily="34" charset="0"/>
              <a:buChar char="•"/>
            </a:pPr>
            <a:r>
              <a:rPr lang="en-US" sz="2400" dirty="0"/>
              <a:t>Extract Month, Day of Week, and Hour from the transaction timestamp.</a:t>
            </a:r>
            <a:r>
              <a:rPr lang="en-IN" sz="2400" dirty="0"/>
              <a:t>   </a:t>
            </a:r>
          </a:p>
          <a:p>
            <a:pPr marL="342900" indent="-342900">
              <a:buFont typeface="Arial" panose="020B0604020202020204" pitchFamily="34" charset="0"/>
              <a:buChar char="•"/>
            </a:pPr>
            <a:r>
              <a:rPr lang="en-US" sz="2400" dirty="0"/>
              <a:t>Translate codes like “</a:t>
            </a:r>
            <a:r>
              <a:rPr lang="en-US" sz="2400" dirty="0" err="1"/>
              <a:t>Sm</a:t>
            </a:r>
            <a:r>
              <a:rPr lang="en-US" sz="2400" dirty="0"/>
              <a:t>”, “Md”, “</a:t>
            </a:r>
            <a:r>
              <a:rPr lang="en-US" sz="2400" dirty="0" err="1"/>
              <a:t>Rg</a:t>
            </a:r>
            <a:r>
              <a:rPr lang="en-US" sz="2400" dirty="0"/>
              <a:t>” into readable labels like “Small”, “Medium”, “Regular” using IF statements. </a:t>
            </a:r>
            <a:r>
              <a:rPr lang="en-IN" sz="2400" dirty="0"/>
              <a:t> </a:t>
            </a:r>
          </a:p>
        </p:txBody>
      </p:sp>
    </p:spTree>
    <p:extLst>
      <p:ext uri="{BB962C8B-B14F-4D97-AF65-F5344CB8AC3E}">
        <p14:creationId xmlns:p14="http://schemas.microsoft.com/office/powerpoint/2010/main" val="317442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FEFCF8-DE73-0413-82A9-D81AE59E8393}"/>
              </a:ext>
            </a:extLst>
          </p:cNvPr>
          <p:cNvSpPr txBox="1"/>
          <p:nvPr/>
        </p:nvSpPr>
        <p:spPr>
          <a:xfrm>
            <a:off x="863600" y="470654"/>
            <a:ext cx="10387496" cy="2308324"/>
          </a:xfrm>
          <a:prstGeom prst="rect">
            <a:avLst/>
          </a:prstGeom>
          <a:noFill/>
        </p:spPr>
        <p:txBody>
          <a:bodyPr wrap="square">
            <a:spAutoFit/>
          </a:bodyPr>
          <a:lstStyle/>
          <a:p>
            <a:r>
              <a:rPr lang="en-IN" sz="2400" dirty="0"/>
              <a:t>4. Format and Standardize:</a:t>
            </a:r>
          </a:p>
          <a:p>
            <a:endParaRPr lang="en-IN" sz="2400" dirty="0"/>
          </a:p>
          <a:p>
            <a:pPr marL="342900" indent="-342900">
              <a:buFont typeface="Arial" panose="020B0604020202020204" pitchFamily="34" charset="0"/>
              <a:buChar char="•"/>
            </a:pPr>
            <a:r>
              <a:rPr lang="en-US" sz="2400" dirty="0"/>
              <a:t>Format numeric columns (like currency and sizes, e.g. “$”) and adjust dates into clear, readable formats(</a:t>
            </a:r>
            <a:r>
              <a:rPr lang="en-US" sz="2400" dirty="0" err="1"/>
              <a:t>eg.</a:t>
            </a:r>
            <a:r>
              <a:rPr lang="en-IN" dirty="0"/>
              <a:t> </a:t>
            </a:r>
            <a:r>
              <a:rPr lang="en-IN" sz="2000" dirty="0"/>
              <a:t>02-06-2023</a:t>
            </a:r>
            <a:r>
              <a:rPr lang="en-IN" sz="2400" dirty="0"/>
              <a:t> </a:t>
            </a:r>
            <a:r>
              <a:rPr lang="en-US" sz="2400" dirty="0"/>
              <a:t>).</a:t>
            </a:r>
          </a:p>
          <a:p>
            <a:pPr marL="342900" indent="-342900">
              <a:buFont typeface="Arial" panose="020B0604020202020204" pitchFamily="34" charset="0"/>
              <a:buChar char="•"/>
            </a:pPr>
            <a:r>
              <a:rPr lang="en-US" sz="2400" dirty="0"/>
              <a:t>Turn your dataset into an official Excel Table, which automatically refreshes with new data and works seamlessly with pivot tables. </a:t>
            </a:r>
          </a:p>
        </p:txBody>
      </p:sp>
      <p:sp>
        <p:nvSpPr>
          <p:cNvPr id="5" name="TextBox 4">
            <a:extLst>
              <a:ext uri="{FF2B5EF4-FFF2-40B4-BE49-F238E27FC236}">
                <a16:creationId xmlns:a16="http://schemas.microsoft.com/office/drawing/2014/main" id="{EDBB82A4-09E6-3817-07D5-9754E8AE6069}"/>
              </a:ext>
            </a:extLst>
          </p:cNvPr>
          <p:cNvSpPr txBox="1"/>
          <p:nvPr/>
        </p:nvSpPr>
        <p:spPr>
          <a:xfrm>
            <a:off x="863600" y="2967335"/>
            <a:ext cx="6097656" cy="461665"/>
          </a:xfrm>
          <a:prstGeom prst="rect">
            <a:avLst/>
          </a:prstGeom>
          <a:noFill/>
        </p:spPr>
        <p:txBody>
          <a:bodyPr wrap="square">
            <a:spAutoFit/>
          </a:bodyPr>
          <a:lstStyle/>
          <a:p>
            <a:r>
              <a:rPr lang="en-IN" sz="2400" b="1" dirty="0">
                <a:solidFill>
                  <a:srgbClr val="967259"/>
                </a:solidFill>
              </a:rPr>
              <a:t>5. Pivot Table Analysis</a:t>
            </a:r>
          </a:p>
        </p:txBody>
      </p:sp>
      <p:sp>
        <p:nvSpPr>
          <p:cNvPr id="11" name="TextBox 10">
            <a:extLst>
              <a:ext uri="{FF2B5EF4-FFF2-40B4-BE49-F238E27FC236}">
                <a16:creationId xmlns:a16="http://schemas.microsoft.com/office/drawing/2014/main" id="{6C54818E-AFD2-135A-A4C6-CB7090AEF5A7}"/>
              </a:ext>
            </a:extLst>
          </p:cNvPr>
          <p:cNvSpPr txBox="1"/>
          <p:nvPr/>
        </p:nvSpPr>
        <p:spPr>
          <a:xfrm>
            <a:off x="863600" y="3564331"/>
            <a:ext cx="10457070" cy="2677656"/>
          </a:xfrm>
          <a:prstGeom prst="rect">
            <a:avLst/>
          </a:prstGeom>
          <a:noFill/>
        </p:spPr>
        <p:txBody>
          <a:bodyPr wrap="square">
            <a:spAutoFit/>
          </a:bodyPr>
          <a:lstStyle/>
          <a:p>
            <a:pPr marL="342900" indent="-342900">
              <a:buFont typeface="Arial" panose="020B0604020202020204" pitchFamily="34" charset="0"/>
              <a:buChar char="•"/>
            </a:pPr>
            <a:r>
              <a:rPr lang="en-US" sz="2400" dirty="0"/>
              <a:t>Create pivot tables summarizing:</a:t>
            </a:r>
          </a:p>
          <a:p>
            <a:r>
              <a:rPr lang="en-US" sz="2400" dirty="0"/>
              <a:t>     1.Sales over time (monthly, weekly, hourly)</a:t>
            </a:r>
          </a:p>
          <a:p>
            <a:r>
              <a:rPr lang="en-US" sz="2400" dirty="0"/>
              <a:t>     2.Sales by category, product, and location</a:t>
            </a:r>
          </a:p>
          <a:p>
            <a:r>
              <a:rPr lang="en-US" sz="2400" dirty="0"/>
              <a:t>     3.Top 5 product by sales.</a:t>
            </a:r>
          </a:p>
          <a:p>
            <a:r>
              <a:rPr lang="en-US" sz="2400" dirty="0"/>
              <a:t>     4.Size distribution based on order</a:t>
            </a:r>
          </a:p>
          <a:p>
            <a:r>
              <a:rPr lang="en-US" sz="2400" dirty="0"/>
              <a:t>     5.Orders on weekdays</a:t>
            </a:r>
          </a:p>
          <a:p>
            <a:r>
              <a:rPr lang="en-US" sz="2400" dirty="0"/>
              <a:t>     6.Total sales, total footfall, average bill per person &amp; average order per person.</a:t>
            </a:r>
          </a:p>
        </p:txBody>
      </p:sp>
    </p:spTree>
    <p:extLst>
      <p:ext uri="{BB962C8B-B14F-4D97-AF65-F5344CB8AC3E}">
        <p14:creationId xmlns:p14="http://schemas.microsoft.com/office/powerpoint/2010/main" val="459360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2FDE99-34DA-838D-5736-B7734D8371A3}"/>
              </a:ext>
            </a:extLst>
          </p:cNvPr>
          <p:cNvSpPr txBox="1"/>
          <p:nvPr/>
        </p:nvSpPr>
        <p:spPr>
          <a:xfrm>
            <a:off x="875071" y="287283"/>
            <a:ext cx="6096000" cy="461665"/>
          </a:xfrm>
          <a:prstGeom prst="rect">
            <a:avLst/>
          </a:prstGeom>
          <a:noFill/>
        </p:spPr>
        <p:txBody>
          <a:bodyPr wrap="square">
            <a:spAutoFit/>
          </a:bodyPr>
          <a:lstStyle/>
          <a:p>
            <a:r>
              <a:rPr lang="en-IN" sz="2400" b="1" dirty="0">
                <a:solidFill>
                  <a:srgbClr val="967259"/>
                </a:solidFill>
              </a:rPr>
              <a:t>6. Dashboard Building</a:t>
            </a:r>
          </a:p>
        </p:txBody>
      </p:sp>
      <p:sp>
        <p:nvSpPr>
          <p:cNvPr id="6" name="Rectangle 3">
            <a:extLst>
              <a:ext uri="{FF2B5EF4-FFF2-40B4-BE49-F238E27FC236}">
                <a16:creationId xmlns:a16="http://schemas.microsoft.com/office/drawing/2014/main" id="{485919F1-A378-EF17-5AF3-93F375BBBBB3}"/>
              </a:ext>
            </a:extLst>
          </p:cNvPr>
          <p:cNvSpPr>
            <a:spLocks noChangeArrowheads="1"/>
          </p:cNvSpPr>
          <p:nvPr/>
        </p:nvSpPr>
        <p:spPr bwMode="auto">
          <a:xfrm>
            <a:off x="875071" y="962544"/>
            <a:ext cx="1046152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Design with clear layout and color theme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Use pivot charts: line charts with markers for time trends, bar/pie charts for  breakdowns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Add </a:t>
            </a:r>
            <a:r>
              <a:rPr kumimoji="0" lang="en-US" altLang="en-US" sz="2400" i="0" u="none" strike="noStrike" cap="none" normalizeH="0" baseline="0" dirty="0">
                <a:ln>
                  <a:noFill/>
                </a:ln>
                <a:solidFill>
                  <a:schemeClr val="tx1"/>
                </a:solidFill>
                <a:effectLst/>
                <a:latin typeface="Arial" panose="020B0604020202020204" pitchFamily="34" charset="0"/>
              </a:rPr>
              <a:t>slicers (</a:t>
            </a:r>
            <a:r>
              <a:rPr kumimoji="0" lang="en-US" altLang="en-US" sz="2400" i="0" u="none" strike="noStrike" cap="none" normalizeH="0" baseline="0" dirty="0" err="1">
                <a:ln>
                  <a:noFill/>
                </a:ln>
                <a:solidFill>
                  <a:schemeClr val="tx1"/>
                </a:solidFill>
                <a:effectLst/>
                <a:latin typeface="Arial" panose="020B0604020202020204" pitchFamily="34" charset="0"/>
              </a:rPr>
              <a:t>eg</a:t>
            </a:r>
            <a:r>
              <a:rPr kumimoji="0" lang="en-US" altLang="en-US" sz="2400" i="0" u="none" strike="noStrike" cap="none" normalizeH="0" baseline="0" dirty="0">
                <a:ln>
                  <a:noFill/>
                </a:ln>
                <a:solidFill>
                  <a:schemeClr val="tx1"/>
                </a:solidFill>
                <a:effectLst/>
                <a:latin typeface="Arial" panose="020B0604020202020204" pitchFamily="34" charset="0"/>
              </a:rPr>
              <a:t>: </a:t>
            </a:r>
            <a:r>
              <a:rPr kumimoji="0" lang="en-US" altLang="en-US" sz="2400" i="0" u="none" strike="noStrike" cap="none" normalizeH="0" baseline="0" dirty="0" err="1">
                <a:ln>
                  <a:noFill/>
                </a:ln>
                <a:solidFill>
                  <a:schemeClr val="tx1"/>
                </a:solidFill>
                <a:effectLst/>
                <a:latin typeface="Arial" panose="020B0604020202020204" pitchFamily="34" charset="0"/>
              </a:rPr>
              <a:t>toatal</a:t>
            </a:r>
            <a:r>
              <a:rPr kumimoji="0" lang="en-US" altLang="en-US" sz="2400" i="0" u="none" strike="noStrike" cap="none" normalizeH="0" baseline="0" dirty="0">
                <a:ln>
                  <a:noFill/>
                </a:ln>
                <a:solidFill>
                  <a:schemeClr val="tx1"/>
                </a:solidFill>
                <a:effectLst/>
                <a:latin typeface="Arial" panose="020B0604020202020204" pitchFamily="34" charset="0"/>
              </a:rPr>
              <a:t> sales, total footfall, avg bill/ person, avg order/ person) and timeline </a:t>
            </a:r>
            <a:r>
              <a:rPr kumimoji="0" lang="en-US" altLang="en-US" sz="2400" b="0" i="0" u="none" strike="noStrike" cap="none" normalizeH="0" baseline="0" dirty="0">
                <a:ln>
                  <a:noFill/>
                </a:ln>
                <a:solidFill>
                  <a:schemeClr val="tx1"/>
                </a:solidFill>
                <a:effectLst/>
                <a:latin typeface="Arial" panose="020B0604020202020204" pitchFamily="34" charset="0"/>
              </a:rPr>
              <a:t>filters that connected all visuals for interactivity</a:t>
            </a:r>
          </a:p>
        </p:txBody>
      </p:sp>
      <p:sp>
        <p:nvSpPr>
          <p:cNvPr id="8" name="TextBox 7">
            <a:extLst>
              <a:ext uri="{FF2B5EF4-FFF2-40B4-BE49-F238E27FC236}">
                <a16:creationId xmlns:a16="http://schemas.microsoft.com/office/drawing/2014/main" id="{D86FB8DE-1CDA-0C75-8DD1-BFC248C33C5D}"/>
              </a:ext>
            </a:extLst>
          </p:cNvPr>
          <p:cNvSpPr txBox="1"/>
          <p:nvPr/>
        </p:nvSpPr>
        <p:spPr>
          <a:xfrm>
            <a:off x="875071" y="3475703"/>
            <a:ext cx="10117393" cy="1938992"/>
          </a:xfrm>
          <a:prstGeom prst="rect">
            <a:avLst/>
          </a:prstGeom>
          <a:noFill/>
        </p:spPr>
        <p:txBody>
          <a:bodyPr wrap="square">
            <a:spAutoFit/>
          </a:bodyPr>
          <a:lstStyle/>
          <a:p>
            <a:pPr>
              <a:buNone/>
            </a:pPr>
            <a:r>
              <a:rPr lang="en-US" sz="2400" b="1" dirty="0">
                <a:solidFill>
                  <a:srgbClr val="967259"/>
                </a:solidFill>
              </a:rPr>
              <a:t>7. Design Enhancements</a:t>
            </a:r>
          </a:p>
          <a:p>
            <a:pPr algn="just">
              <a:buNone/>
            </a:pPr>
            <a:endParaRPr lang="en-US" sz="2400" b="1" dirty="0"/>
          </a:p>
          <a:p>
            <a:pPr>
              <a:buFont typeface="Arial" panose="020B0604020202020204" pitchFamily="34" charset="0"/>
              <a:buChar char="•"/>
            </a:pPr>
            <a:r>
              <a:rPr lang="en-US" sz="2400" dirty="0"/>
              <a:t> Heat maps to highlight days or hours with high sales</a:t>
            </a:r>
          </a:p>
          <a:p>
            <a:pPr>
              <a:buFont typeface="Arial" panose="020B0604020202020204" pitchFamily="34" charset="0"/>
              <a:buChar char="•"/>
            </a:pPr>
            <a:r>
              <a:rPr lang="en-US" sz="2400" dirty="0"/>
              <a:t> Conditional formatting for scorecards and KPIs</a:t>
            </a:r>
          </a:p>
          <a:p>
            <a:pPr>
              <a:buFont typeface="Arial" panose="020B0604020202020204" pitchFamily="34" charset="0"/>
              <a:buChar char="•"/>
            </a:pPr>
            <a:r>
              <a:rPr lang="en-US" sz="2400" dirty="0"/>
              <a:t> Coffee-themed color palettes for brand consistency </a:t>
            </a:r>
          </a:p>
        </p:txBody>
      </p:sp>
    </p:spTree>
    <p:extLst>
      <p:ext uri="{BB962C8B-B14F-4D97-AF65-F5344CB8AC3E}">
        <p14:creationId xmlns:p14="http://schemas.microsoft.com/office/powerpoint/2010/main" val="299664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1288DC-2FCB-0DD5-73E3-6CF4D02BC78E}"/>
              </a:ext>
            </a:extLst>
          </p:cNvPr>
          <p:cNvSpPr txBox="1"/>
          <p:nvPr/>
        </p:nvSpPr>
        <p:spPr>
          <a:xfrm>
            <a:off x="963560" y="350174"/>
            <a:ext cx="10019071" cy="2677656"/>
          </a:xfrm>
          <a:prstGeom prst="rect">
            <a:avLst/>
          </a:prstGeom>
          <a:noFill/>
        </p:spPr>
        <p:txBody>
          <a:bodyPr wrap="square">
            <a:spAutoFit/>
          </a:bodyPr>
          <a:lstStyle/>
          <a:p>
            <a:pPr>
              <a:buNone/>
            </a:pPr>
            <a:r>
              <a:rPr lang="en-US" sz="2400" b="1" dirty="0">
                <a:solidFill>
                  <a:srgbClr val="967259"/>
                </a:solidFill>
              </a:rPr>
              <a:t>8. Key Insights Derived</a:t>
            </a:r>
          </a:p>
          <a:p>
            <a:pPr>
              <a:buNone/>
            </a:pPr>
            <a:endParaRPr lang="en-US" sz="2400" b="1" dirty="0">
              <a:solidFill>
                <a:srgbClr val="967259"/>
              </a:solidFill>
            </a:endParaRPr>
          </a:p>
          <a:p>
            <a:pPr>
              <a:buNone/>
            </a:pPr>
            <a:r>
              <a:rPr lang="en-US" sz="2400" dirty="0"/>
              <a:t>  Typical insights may include:</a:t>
            </a:r>
          </a:p>
          <a:p>
            <a:pPr>
              <a:buFont typeface="Arial" panose="020B0604020202020204" pitchFamily="34" charset="0"/>
              <a:buChar char="•"/>
            </a:pPr>
            <a:r>
              <a:rPr lang="en-US" sz="2400" dirty="0"/>
              <a:t> Peak sales hours (e.g., morning rush between 7–10 AM) </a:t>
            </a:r>
          </a:p>
          <a:p>
            <a:pPr>
              <a:buFont typeface="Arial" panose="020B0604020202020204" pitchFamily="34" charset="0"/>
              <a:buChar char="•"/>
            </a:pPr>
            <a:r>
              <a:rPr lang="en-US" sz="2400" dirty="0"/>
              <a:t> Top-selling products and categories (</a:t>
            </a:r>
            <a:r>
              <a:rPr lang="en-US" sz="2400" dirty="0" err="1"/>
              <a:t>eg</a:t>
            </a:r>
            <a:r>
              <a:rPr lang="en-US" sz="2400" dirty="0"/>
              <a:t>: coffee)</a:t>
            </a:r>
          </a:p>
          <a:p>
            <a:pPr>
              <a:buFont typeface="Arial" panose="020B0604020202020204" pitchFamily="34" charset="0"/>
              <a:buChar char="•"/>
            </a:pPr>
            <a:r>
              <a:rPr lang="en-US" sz="2400" dirty="0"/>
              <a:t> Branch comparison: best-performing stores</a:t>
            </a:r>
          </a:p>
          <a:p>
            <a:pPr>
              <a:buFont typeface="Arial" panose="020B0604020202020204" pitchFamily="34" charset="0"/>
              <a:buChar char="•"/>
            </a:pPr>
            <a:r>
              <a:rPr lang="en-US" sz="2400" dirty="0"/>
              <a:t> Average order value, seasonal trends in revenue</a:t>
            </a:r>
          </a:p>
        </p:txBody>
      </p:sp>
      <p:sp>
        <p:nvSpPr>
          <p:cNvPr id="5" name="TextBox 4">
            <a:extLst>
              <a:ext uri="{FF2B5EF4-FFF2-40B4-BE49-F238E27FC236}">
                <a16:creationId xmlns:a16="http://schemas.microsoft.com/office/drawing/2014/main" id="{933307B1-5342-6D6E-EFCC-59C26E3DEA80}"/>
              </a:ext>
            </a:extLst>
          </p:cNvPr>
          <p:cNvSpPr txBox="1"/>
          <p:nvPr/>
        </p:nvSpPr>
        <p:spPr>
          <a:xfrm>
            <a:off x="963560" y="3599338"/>
            <a:ext cx="9802760" cy="461665"/>
          </a:xfrm>
          <a:prstGeom prst="rect">
            <a:avLst/>
          </a:prstGeom>
          <a:noFill/>
        </p:spPr>
        <p:txBody>
          <a:bodyPr wrap="square">
            <a:spAutoFit/>
          </a:bodyPr>
          <a:lstStyle/>
          <a:p>
            <a:pPr marL="342900" indent="-342900">
              <a:buFont typeface="Arial" panose="020B0604020202020204" pitchFamily="34" charset="0"/>
              <a:buChar char="•"/>
            </a:pPr>
            <a:r>
              <a:rPr lang="en-US" sz="2400" dirty="0"/>
              <a:t>Use the sales data to predict future trends.</a:t>
            </a:r>
            <a:endParaRPr lang="en-IN" sz="2400" dirty="0"/>
          </a:p>
        </p:txBody>
      </p:sp>
      <p:sp>
        <p:nvSpPr>
          <p:cNvPr id="7" name="TextBox 6">
            <a:extLst>
              <a:ext uri="{FF2B5EF4-FFF2-40B4-BE49-F238E27FC236}">
                <a16:creationId xmlns:a16="http://schemas.microsoft.com/office/drawing/2014/main" id="{80865B3B-6088-3E86-70FF-8B8D5C896B96}"/>
              </a:ext>
            </a:extLst>
          </p:cNvPr>
          <p:cNvSpPr txBox="1"/>
          <p:nvPr/>
        </p:nvSpPr>
        <p:spPr>
          <a:xfrm>
            <a:off x="963560" y="4209506"/>
            <a:ext cx="10019070" cy="830997"/>
          </a:xfrm>
          <a:prstGeom prst="rect">
            <a:avLst/>
          </a:prstGeom>
          <a:noFill/>
        </p:spPr>
        <p:txBody>
          <a:bodyPr wrap="square">
            <a:spAutoFit/>
          </a:bodyPr>
          <a:lstStyle/>
          <a:p>
            <a:pPr marL="342900" indent="-342900">
              <a:buFont typeface="Arial" panose="020B0604020202020204" pitchFamily="34" charset="0"/>
              <a:buChar char="•"/>
            </a:pPr>
            <a:r>
              <a:rPr lang="en-US" sz="2400" dirty="0"/>
              <a:t>Set up </a:t>
            </a:r>
            <a:r>
              <a:rPr lang="en-US" sz="2400" b="1" dirty="0"/>
              <a:t>automatic updates</a:t>
            </a:r>
            <a:r>
              <a:rPr lang="en-US" sz="2400" dirty="0"/>
              <a:t> using tools like macros or Power Query, so the dashboard stays up to date.</a:t>
            </a:r>
            <a:endParaRPr lang="en-IN" sz="2400" dirty="0"/>
          </a:p>
        </p:txBody>
      </p:sp>
    </p:spTree>
    <p:extLst>
      <p:ext uri="{BB962C8B-B14F-4D97-AF65-F5344CB8AC3E}">
        <p14:creationId xmlns:p14="http://schemas.microsoft.com/office/powerpoint/2010/main" val="487051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852EB-C4F6-D4F1-3798-C19923E63267}"/>
              </a:ext>
            </a:extLst>
          </p:cNvPr>
          <p:cNvSpPr>
            <a:spLocks noGrp="1"/>
          </p:cNvSpPr>
          <p:nvPr>
            <p:ph type="title"/>
          </p:nvPr>
        </p:nvSpPr>
        <p:spPr/>
        <p:txBody>
          <a:bodyPr>
            <a:normAutofit/>
          </a:bodyPr>
          <a:lstStyle/>
          <a:p>
            <a:r>
              <a:rPr lang="en-US" sz="4000" dirty="0">
                <a:solidFill>
                  <a:srgbClr val="634832"/>
                </a:solidFill>
              </a:rPr>
              <a:t>Project Pipeline: From Raw Data to Smart Insights</a:t>
            </a:r>
            <a:endParaRPr lang="en-IN" sz="4000" dirty="0">
              <a:solidFill>
                <a:srgbClr val="634832"/>
              </a:solidFill>
            </a:endParaRPr>
          </a:p>
        </p:txBody>
      </p:sp>
      <p:sp>
        <p:nvSpPr>
          <p:cNvPr id="3" name="Content Placeholder 2">
            <a:extLst>
              <a:ext uri="{FF2B5EF4-FFF2-40B4-BE49-F238E27FC236}">
                <a16:creationId xmlns:a16="http://schemas.microsoft.com/office/drawing/2014/main" id="{0441769E-1BC8-3331-C7B5-4AC8FEF69D8E}"/>
              </a:ext>
            </a:extLst>
          </p:cNvPr>
          <p:cNvSpPr>
            <a:spLocks noGrp="1"/>
          </p:cNvSpPr>
          <p:nvPr>
            <p:ph idx="1"/>
          </p:nvPr>
        </p:nvSpPr>
        <p:spPr>
          <a:xfrm>
            <a:off x="838200" y="1690688"/>
            <a:ext cx="10515600" cy="4351338"/>
          </a:xfrm>
        </p:spPr>
        <p:txBody>
          <a:bodyPr>
            <a:normAutofit/>
          </a:bodyPr>
          <a:lstStyle/>
          <a:p>
            <a:pPr marL="0" indent="0">
              <a:buNone/>
            </a:pPr>
            <a:r>
              <a:rPr lang="en-US" sz="2400" b="1" dirty="0">
                <a:solidFill>
                  <a:srgbClr val="967259"/>
                </a:solidFill>
              </a:rPr>
              <a:t>Source</a:t>
            </a:r>
          </a:p>
          <a:p>
            <a:r>
              <a:rPr lang="en-US" sz="2400" dirty="0" err="1"/>
              <a:t>Github</a:t>
            </a:r>
            <a:endParaRPr lang="en-US" sz="2400" dirty="0"/>
          </a:p>
          <a:p>
            <a:pPr marL="0" indent="0">
              <a:buNone/>
            </a:pPr>
            <a:endParaRPr lang="en-US" sz="2400" dirty="0">
              <a:solidFill>
                <a:srgbClr val="967259"/>
              </a:solidFill>
            </a:endParaRPr>
          </a:p>
          <a:p>
            <a:pPr marL="0" indent="0">
              <a:buNone/>
            </a:pPr>
            <a:r>
              <a:rPr lang="en-US" sz="2400" b="1" dirty="0">
                <a:solidFill>
                  <a:srgbClr val="967259"/>
                </a:solidFill>
              </a:rPr>
              <a:t>Core Variables (Columns) in this Project</a:t>
            </a:r>
          </a:p>
          <a:p>
            <a:r>
              <a:rPr lang="en-IN" sz="2400" dirty="0"/>
              <a:t>Time Variables(</a:t>
            </a:r>
            <a:r>
              <a:rPr lang="en-US" sz="2400" dirty="0"/>
              <a:t>Date, Month, Day of Week, Hour</a:t>
            </a:r>
            <a:r>
              <a:rPr lang="en-IN" sz="2400" dirty="0"/>
              <a:t>)</a:t>
            </a:r>
          </a:p>
          <a:p>
            <a:r>
              <a:rPr lang="en-IN" sz="2400" dirty="0"/>
              <a:t>Sales Metrics(Quantity, Unit Price, Revenue)</a:t>
            </a:r>
          </a:p>
          <a:p>
            <a:r>
              <a:rPr lang="en-IN" sz="2400" dirty="0"/>
              <a:t>Product Attributes(</a:t>
            </a:r>
            <a:r>
              <a:rPr lang="en-US" sz="2400" dirty="0"/>
              <a:t>Product Name, Category, Size, Roast Type</a:t>
            </a:r>
            <a:r>
              <a:rPr lang="en-IN" sz="2400" dirty="0"/>
              <a:t>)</a:t>
            </a:r>
          </a:p>
          <a:p>
            <a:r>
              <a:rPr lang="en-IN" sz="2400" dirty="0"/>
              <a:t>Customer Attributes(Country, Loyalty Status)</a:t>
            </a:r>
          </a:p>
          <a:p>
            <a:r>
              <a:rPr lang="en-IN" sz="2400" dirty="0"/>
              <a:t>Location Info(store or Branch identifier)</a:t>
            </a:r>
          </a:p>
          <a:p>
            <a:pPr marL="0" indent="0">
              <a:buNone/>
            </a:pPr>
            <a:endParaRPr lang="en-US" sz="2400" dirty="0">
              <a:solidFill>
                <a:srgbClr val="967259"/>
              </a:solidFill>
            </a:endParaRPr>
          </a:p>
          <a:p>
            <a:pPr marL="0" indent="0">
              <a:buNone/>
            </a:pPr>
            <a:endParaRPr lang="en-US" sz="2400" dirty="0">
              <a:solidFill>
                <a:srgbClr val="967259"/>
              </a:solidFill>
            </a:endParaRPr>
          </a:p>
          <a:p>
            <a:pPr marL="0" indent="0">
              <a:buNone/>
            </a:pPr>
            <a:endParaRPr lang="en-US" sz="2400" dirty="0">
              <a:solidFill>
                <a:srgbClr val="967259"/>
              </a:solidFill>
            </a:endParaRPr>
          </a:p>
          <a:p>
            <a:pPr marL="0" indent="0">
              <a:buNone/>
            </a:pPr>
            <a:endParaRPr lang="en-US" sz="2400" dirty="0">
              <a:solidFill>
                <a:srgbClr val="967259"/>
              </a:solidFill>
            </a:endParaRPr>
          </a:p>
          <a:p>
            <a:pPr marL="0" indent="0">
              <a:buNone/>
            </a:pPr>
            <a:endParaRPr lang="en-US" sz="2400" dirty="0">
              <a:solidFill>
                <a:srgbClr val="967259"/>
              </a:solidFill>
            </a:endParaRPr>
          </a:p>
          <a:p>
            <a:pPr marL="0" indent="0">
              <a:buNone/>
            </a:pPr>
            <a:endParaRPr lang="en-IN" sz="2400" dirty="0">
              <a:solidFill>
                <a:srgbClr val="967259"/>
              </a:solidFill>
            </a:endParaRPr>
          </a:p>
        </p:txBody>
      </p:sp>
      <p:sp>
        <p:nvSpPr>
          <p:cNvPr id="4" name="Rectangle 1">
            <a:extLst>
              <a:ext uri="{FF2B5EF4-FFF2-40B4-BE49-F238E27FC236}">
                <a16:creationId xmlns:a16="http://schemas.microsoft.com/office/drawing/2014/main" id="{A97FBBBC-992E-579B-5662-884FF313833A}"/>
              </a:ext>
            </a:extLst>
          </p:cNvPr>
          <p:cNvSpPr>
            <a:spLocks noChangeArrowheads="1"/>
          </p:cNvSpPr>
          <p:nvPr/>
        </p:nvSpPr>
        <p:spPr bwMode="auto">
          <a:xfrm>
            <a:off x="838200" y="3816395"/>
            <a:ext cx="1051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Table 13">
            <a:extLst>
              <a:ext uri="{FF2B5EF4-FFF2-40B4-BE49-F238E27FC236}">
                <a16:creationId xmlns:a16="http://schemas.microsoft.com/office/drawing/2014/main" id="{A30694C0-C3F1-8C54-6401-B696C9888407}"/>
              </a:ext>
            </a:extLst>
          </p:cNvPr>
          <p:cNvGraphicFramePr>
            <a:graphicFrameLocks noGrp="1"/>
          </p:cNvGraphicFramePr>
          <p:nvPr>
            <p:extLst>
              <p:ext uri="{D42A27DB-BD31-4B8C-83A1-F6EECF244321}">
                <p14:modId xmlns:p14="http://schemas.microsoft.com/office/powerpoint/2010/main" val="919874747"/>
              </p:ext>
            </p:extLst>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954825509"/>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1586148416"/>
                  </a:ext>
                </a:extLst>
              </a:tr>
            </a:tbl>
          </a:graphicData>
        </a:graphic>
      </p:graphicFrame>
      <p:graphicFrame>
        <p:nvGraphicFramePr>
          <p:cNvPr id="20" name="Table 19">
            <a:extLst>
              <a:ext uri="{FF2B5EF4-FFF2-40B4-BE49-F238E27FC236}">
                <a16:creationId xmlns:a16="http://schemas.microsoft.com/office/drawing/2014/main" id="{5478A1BF-58DE-65C6-C76E-C66101F53E17}"/>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52411655"/>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2629359242"/>
                  </a:ext>
                </a:extLst>
              </a:tr>
            </a:tbl>
          </a:graphicData>
        </a:graphic>
      </p:graphicFrame>
    </p:spTree>
    <p:extLst>
      <p:ext uri="{BB962C8B-B14F-4D97-AF65-F5344CB8AC3E}">
        <p14:creationId xmlns:p14="http://schemas.microsoft.com/office/powerpoint/2010/main" val="171836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E5C3BB-D234-42FB-9D5F-739F738C3B34}"/>
              </a:ext>
            </a:extLst>
          </p:cNvPr>
          <p:cNvSpPr txBox="1"/>
          <p:nvPr/>
        </p:nvSpPr>
        <p:spPr>
          <a:xfrm>
            <a:off x="786581" y="414930"/>
            <a:ext cx="10520516" cy="2308324"/>
          </a:xfrm>
          <a:prstGeom prst="rect">
            <a:avLst/>
          </a:prstGeom>
          <a:noFill/>
        </p:spPr>
        <p:txBody>
          <a:bodyPr wrap="square">
            <a:spAutoFit/>
          </a:bodyPr>
          <a:lstStyle/>
          <a:p>
            <a:r>
              <a:rPr lang="en-US" sz="2400" b="1" dirty="0">
                <a:solidFill>
                  <a:srgbClr val="967259"/>
                </a:solidFill>
              </a:rPr>
              <a:t>Data mine</a:t>
            </a:r>
          </a:p>
          <a:p>
            <a:r>
              <a:rPr lang="en-US" sz="2400" dirty="0"/>
              <a:t>1.Sales Trends – Revenue and quantity over months, weeks, and hours to find peak periods.</a:t>
            </a:r>
          </a:p>
          <a:p>
            <a:r>
              <a:rPr lang="en-US" sz="2400" dirty="0"/>
              <a:t>2.Top Products – Best-selling items by category, roast, and size.</a:t>
            </a:r>
          </a:p>
          <a:p>
            <a:r>
              <a:rPr lang="en-US" sz="2400" dirty="0"/>
              <a:t>3.Customer Insights – Sales by country and loyalty membership.</a:t>
            </a:r>
          </a:p>
          <a:p>
            <a:r>
              <a:rPr lang="en-US" sz="2400" dirty="0"/>
              <a:t>4.KPIs – Total revenue, transactions, average order value, and profit.</a:t>
            </a:r>
          </a:p>
        </p:txBody>
      </p:sp>
      <p:sp>
        <p:nvSpPr>
          <p:cNvPr id="7" name="Rectangle 2">
            <a:extLst>
              <a:ext uri="{FF2B5EF4-FFF2-40B4-BE49-F238E27FC236}">
                <a16:creationId xmlns:a16="http://schemas.microsoft.com/office/drawing/2014/main" id="{96315565-9E0F-4594-2DC4-ACF0D2E6800E}"/>
              </a:ext>
            </a:extLst>
          </p:cNvPr>
          <p:cNvSpPr>
            <a:spLocks noChangeArrowheads="1"/>
          </p:cNvSpPr>
          <p:nvPr/>
        </p:nvSpPr>
        <p:spPr bwMode="auto">
          <a:xfrm>
            <a:off x="786580" y="3126805"/>
            <a:ext cx="10520517"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967259"/>
                </a:solidFill>
                <a:effectLst/>
                <a:latin typeface="Arial" panose="020B0604020202020204" pitchFamily="34" charset="0"/>
              </a:rPr>
              <a:t>Data Clean</a:t>
            </a:r>
            <a:endParaRPr lang="en-US" altLang="en-US" sz="2000" b="1" dirty="0">
              <a:latin typeface="Arial" panose="020B0604020202020204" pitchFamily="34" charset="0"/>
            </a:endParaRPr>
          </a:p>
          <a:p>
            <a:pPr marL="342900" indent="-342900" algn="just">
              <a:buFont typeface="Arial" panose="020B0604020202020204" pitchFamily="34" charset="0"/>
              <a:buChar char="•"/>
            </a:pPr>
            <a:r>
              <a:rPr lang="en-US" sz="2400" dirty="0"/>
              <a:t>Correct formats, compute new columns, remove unnecessary data. </a:t>
            </a:r>
          </a:p>
          <a:p>
            <a:pPr marL="342900" indent="-342900" algn="just">
              <a:buFont typeface="Arial" panose="020B0604020202020204" pitchFamily="34" charset="0"/>
              <a:buChar char="•"/>
            </a:pPr>
            <a:r>
              <a:rPr lang="en-US" sz="2400" dirty="0"/>
              <a:t>Ensure column formats are consistent—dates should remain dates, numbers as numbers, etc.</a:t>
            </a:r>
          </a:p>
          <a:p>
            <a:pPr marL="342900" indent="-342900" algn="just">
              <a:buFont typeface="Arial" panose="020B0604020202020204" pitchFamily="34" charset="0"/>
              <a:buChar char="•"/>
            </a:pPr>
            <a:r>
              <a:rPr lang="en-US" sz="2400" dirty="0"/>
              <a:t>Add a Total Bill, calculated as: </a:t>
            </a:r>
            <a:r>
              <a:rPr lang="en-IN" sz="2400" dirty="0"/>
              <a:t>Revenue = Quantity × Unit price.</a:t>
            </a:r>
          </a:p>
          <a:p>
            <a:pPr marL="342900" indent="-342900" algn="just">
              <a:buFont typeface="Arial" panose="020B0604020202020204" pitchFamily="34" charset="0"/>
              <a:buChar char="•"/>
            </a:pPr>
            <a:r>
              <a:rPr lang="en-US" sz="2400" dirty="0"/>
              <a:t>Extract Month, Day of Week, and Hour from the transaction timestamp.</a:t>
            </a:r>
            <a:r>
              <a:rPr lang="en-IN" sz="2400" dirty="0"/>
              <a:t>   </a:t>
            </a:r>
          </a:p>
          <a:p>
            <a:pPr marL="342900" indent="-342900" algn="just">
              <a:buFont typeface="Arial" panose="020B0604020202020204" pitchFamily="34" charset="0"/>
              <a:buChar char="•"/>
            </a:pPr>
            <a:r>
              <a:rPr lang="en-US" sz="2400" dirty="0"/>
              <a:t>Translate codes like “</a:t>
            </a:r>
            <a:r>
              <a:rPr lang="en-US" sz="2400" dirty="0" err="1"/>
              <a:t>Sm</a:t>
            </a:r>
            <a:r>
              <a:rPr lang="en-US" sz="2400" dirty="0"/>
              <a:t>”,“Md”,“</a:t>
            </a:r>
            <a:r>
              <a:rPr lang="en-US" sz="2400" dirty="0" err="1"/>
              <a:t>Rg</a:t>
            </a:r>
            <a:r>
              <a:rPr lang="en-US" sz="2400" dirty="0"/>
              <a:t>” into readable labels like “Small”, “Medium”, “Regular” using IF statements</a:t>
            </a:r>
            <a:r>
              <a:rPr lang="en-US" sz="2000" dirty="0"/>
              <a:t>. </a:t>
            </a:r>
            <a:r>
              <a:rPr lang="en-IN" sz="2000" dirty="0"/>
              <a:t> </a:t>
            </a:r>
          </a:p>
          <a:p>
            <a:pPr algn="just"/>
            <a:r>
              <a:rPr lang="en-US" sz="2000" dirty="0"/>
              <a:t> </a:t>
            </a:r>
            <a:endParaRPr lang="en-IN" sz="2000" dirty="0"/>
          </a:p>
          <a:p>
            <a:pPr marL="0" marR="0" lvl="0" indent="0" algn="l" defTabSz="914400" rtl="0" eaLnBrk="0" fontAlgn="base" latinLnBrk="0" hangingPunct="0">
              <a:lnSpc>
                <a:spcPct val="100000"/>
              </a:lnSpc>
              <a:spcBef>
                <a:spcPct val="0"/>
              </a:spcBef>
              <a:spcAft>
                <a:spcPct val="0"/>
              </a:spcAft>
              <a:buClrTx/>
              <a:buSzTx/>
              <a:tabLst/>
            </a:pPr>
            <a:br>
              <a:rPr kumimoji="0" lang="en-US" altLang="en-US" sz="2000" i="0" u="none" strike="noStrike" cap="none" normalizeH="0" baseline="0" dirty="0">
                <a:ln>
                  <a:noFill/>
                </a:ln>
                <a:solidFill>
                  <a:schemeClr val="tx1"/>
                </a:solidFill>
                <a:effectLst/>
                <a:latin typeface="Arial" panose="020B0604020202020204" pitchFamily="34" charset="0"/>
              </a:rPr>
            </a:b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7780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3B8797-E268-38DF-903F-CC0ACAA09F6D}"/>
              </a:ext>
            </a:extLst>
          </p:cNvPr>
          <p:cNvSpPr txBox="1"/>
          <p:nvPr/>
        </p:nvSpPr>
        <p:spPr>
          <a:xfrm>
            <a:off x="890953" y="313566"/>
            <a:ext cx="10410093" cy="2308324"/>
          </a:xfrm>
          <a:prstGeom prst="rect">
            <a:avLst/>
          </a:prstGeom>
          <a:noFill/>
        </p:spPr>
        <p:txBody>
          <a:bodyPr wrap="square">
            <a:spAutoFit/>
          </a:bodyPr>
          <a:lstStyle/>
          <a:p>
            <a:pPr>
              <a:buNone/>
            </a:pPr>
            <a:r>
              <a:rPr lang="en-US" sz="2400" b="1" dirty="0">
                <a:solidFill>
                  <a:srgbClr val="967259"/>
                </a:solidFill>
              </a:rPr>
              <a:t>Visuals Used </a:t>
            </a:r>
          </a:p>
          <a:p>
            <a:pPr marL="342900" indent="-342900">
              <a:buFont typeface="Arial" panose="020B0604020202020204" pitchFamily="34" charset="0"/>
              <a:buChar char="•"/>
            </a:pPr>
            <a:r>
              <a:rPr lang="en-US" sz="2400" dirty="0"/>
              <a:t>Bar Charts – Top products, branches, or roast types</a:t>
            </a:r>
          </a:p>
          <a:p>
            <a:pPr>
              <a:buFont typeface="Arial" panose="020B0604020202020204" pitchFamily="34" charset="0"/>
              <a:buChar char="•"/>
            </a:pPr>
            <a:r>
              <a:rPr lang="en-US" sz="2400" dirty="0"/>
              <a:t>    Line Charts – Monthly sales trends</a:t>
            </a:r>
          </a:p>
          <a:p>
            <a:pPr>
              <a:buFont typeface="Arial" panose="020B0604020202020204" pitchFamily="34" charset="0"/>
              <a:buChar char="•"/>
            </a:pPr>
            <a:r>
              <a:rPr lang="en-US" sz="2400" dirty="0"/>
              <a:t>    Pie/Donut Charts – Sales by product category or size </a:t>
            </a:r>
          </a:p>
          <a:p>
            <a:pPr>
              <a:buFont typeface="Arial" panose="020B0604020202020204" pitchFamily="34" charset="0"/>
              <a:buChar char="•"/>
            </a:pPr>
            <a:r>
              <a:rPr lang="en-US" sz="2400" dirty="0"/>
              <a:t>    KPI Cards – Total revenue, orders, average order value</a:t>
            </a:r>
          </a:p>
          <a:p>
            <a:pPr>
              <a:buFont typeface="Arial" panose="020B0604020202020204" pitchFamily="34" charset="0"/>
              <a:buChar char="•"/>
            </a:pPr>
            <a:r>
              <a:rPr lang="en-US" sz="2400" dirty="0"/>
              <a:t>    Slicers – For filtering by branch, product, date, etc.</a:t>
            </a:r>
          </a:p>
        </p:txBody>
      </p:sp>
      <p:sp>
        <p:nvSpPr>
          <p:cNvPr id="6" name="TextBox 5">
            <a:extLst>
              <a:ext uri="{FF2B5EF4-FFF2-40B4-BE49-F238E27FC236}">
                <a16:creationId xmlns:a16="http://schemas.microsoft.com/office/drawing/2014/main" id="{AFAE6BAD-CB21-127D-6321-AAFE5D41DCB8}"/>
              </a:ext>
            </a:extLst>
          </p:cNvPr>
          <p:cNvSpPr txBox="1"/>
          <p:nvPr/>
        </p:nvSpPr>
        <p:spPr>
          <a:xfrm>
            <a:off x="961293" y="2832771"/>
            <a:ext cx="10410092" cy="461665"/>
          </a:xfrm>
          <a:prstGeom prst="rect">
            <a:avLst/>
          </a:prstGeom>
          <a:noFill/>
        </p:spPr>
        <p:txBody>
          <a:bodyPr wrap="square">
            <a:spAutoFit/>
          </a:bodyPr>
          <a:lstStyle/>
          <a:p>
            <a:r>
              <a:rPr lang="en-IN" sz="2400" b="1" dirty="0">
                <a:solidFill>
                  <a:srgbClr val="967259"/>
                </a:solidFill>
              </a:rPr>
              <a:t>IDE </a:t>
            </a:r>
            <a:r>
              <a:rPr lang="en-IN" sz="2400" dirty="0">
                <a:solidFill>
                  <a:srgbClr val="967259"/>
                </a:solidFill>
              </a:rPr>
              <a:t>  </a:t>
            </a:r>
            <a:r>
              <a:rPr lang="en-IN" sz="2400" dirty="0"/>
              <a:t>Microsoft Excel</a:t>
            </a:r>
          </a:p>
        </p:txBody>
      </p:sp>
      <p:sp>
        <p:nvSpPr>
          <p:cNvPr id="8" name="TextBox 7">
            <a:extLst>
              <a:ext uri="{FF2B5EF4-FFF2-40B4-BE49-F238E27FC236}">
                <a16:creationId xmlns:a16="http://schemas.microsoft.com/office/drawing/2014/main" id="{B11D4DAA-6A50-B6C5-6FD0-6C0C2B3EFE27}"/>
              </a:ext>
            </a:extLst>
          </p:cNvPr>
          <p:cNvSpPr txBox="1"/>
          <p:nvPr/>
        </p:nvSpPr>
        <p:spPr>
          <a:xfrm>
            <a:off x="961292" y="3505317"/>
            <a:ext cx="10410093" cy="3416320"/>
          </a:xfrm>
          <a:prstGeom prst="rect">
            <a:avLst/>
          </a:prstGeom>
          <a:noFill/>
        </p:spPr>
        <p:txBody>
          <a:bodyPr wrap="square">
            <a:spAutoFit/>
          </a:bodyPr>
          <a:lstStyle/>
          <a:p>
            <a:r>
              <a:rPr lang="en-IN" sz="2400" b="1" dirty="0">
                <a:solidFill>
                  <a:srgbClr val="967259"/>
                </a:solidFill>
              </a:rPr>
              <a:t>Features</a:t>
            </a:r>
          </a:p>
          <a:p>
            <a:pPr>
              <a:buFont typeface="Arial" panose="020B0604020202020204" pitchFamily="34" charset="0"/>
              <a:buChar char="•"/>
            </a:pPr>
            <a:r>
              <a:rPr lang="en-IN" sz="2400" dirty="0"/>
              <a:t>   KPI cards for sales, orders, and quantity</a:t>
            </a:r>
          </a:p>
          <a:p>
            <a:pPr marL="342900" indent="-342900">
              <a:buFont typeface="Arial" panose="020B0604020202020204" pitchFamily="34" charset="0"/>
              <a:buChar char="•"/>
            </a:pPr>
            <a:r>
              <a:rPr lang="en-IN" sz="2400" dirty="0"/>
              <a:t>Monthly &amp; hourly sales trends           </a:t>
            </a:r>
          </a:p>
          <a:p>
            <a:pPr marL="342900" indent="-342900">
              <a:buFont typeface="Arial" panose="020B0604020202020204" pitchFamily="34" charset="0"/>
              <a:buChar char="•"/>
            </a:pPr>
            <a:r>
              <a:rPr lang="en-IN" sz="2400" dirty="0"/>
              <a:t>Top products and customers</a:t>
            </a:r>
          </a:p>
          <a:p>
            <a:pPr>
              <a:buFont typeface="Arial" panose="020B0604020202020204" pitchFamily="34" charset="0"/>
              <a:buChar char="•"/>
            </a:pPr>
            <a:r>
              <a:rPr lang="en-IN" sz="2400" dirty="0"/>
              <a:t>    Store-wise sales comparison</a:t>
            </a:r>
          </a:p>
          <a:p>
            <a:pPr>
              <a:buFont typeface="Arial" panose="020B0604020202020204" pitchFamily="34" charset="0"/>
              <a:buChar char="•"/>
            </a:pPr>
            <a:r>
              <a:rPr lang="en-IN" sz="2400" dirty="0"/>
              <a:t>    Interactive filters (slicers &amp; timeline)</a:t>
            </a:r>
          </a:p>
          <a:p>
            <a:pPr>
              <a:buFont typeface="Arial" panose="020B0604020202020204" pitchFamily="34" charset="0"/>
              <a:buChar char="•"/>
            </a:pPr>
            <a:r>
              <a:rPr lang="en-IN" sz="2400" dirty="0"/>
              <a:t>    Clean, user-friendly Excel dashboard</a:t>
            </a:r>
          </a:p>
          <a:p>
            <a:pPr>
              <a:buFont typeface="Arial" panose="020B0604020202020204" pitchFamily="34" charset="0"/>
              <a:buChar char="•"/>
            </a:pPr>
            <a:r>
              <a:rPr lang="en-IN" sz="2400" dirty="0"/>
              <a:t>    Pivot Tables &amp; dynamic charts</a:t>
            </a:r>
          </a:p>
          <a:p>
            <a:pPr>
              <a:buFont typeface="Arial" panose="020B0604020202020204" pitchFamily="34" charset="0"/>
              <a:buChar char="•"/>
            </a:pPr>
            <a:r>
              <a:rPr lang="en-IN" sz="2400" dirty="0"/>
              <a:t>    Calculated fields (e.g., revenue)</a:t>
            </a:r>
          </a:p>
        </p:txBody>
      </p:sp>
    </p:spTree>
    <p:extLst>
      <p:ext uri="{BB962C8B-B14F-4D97-AF65-F5344CB8AC3E}">
        <p14:creationId xmlns:p14="http://schemas.microsoft.com/office/powerpoint/2010/main" val="2507210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TotalTime>
  <Words>1070</Words>
  <Application>Microsoft Office PowerPoint</Application>
  <PresentationFormat>Widescreen</PresentationFormat>
  <Paragraphs>118</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Domain</vt:lpstr>
      <vt:lpstr>E-commerce</vt:lpstr>
      <vt:lpstr>Project Title</vt:lpstr>
      <vt:lpstr>PowerPoint Presentation</vt:lpstr>
      <vt:lpstr>Storyline of the Project</vt:lpstr>
      <vt:lpstr>PowerPoint Presentation</vt:lpstr>
      <vt:lpstr>PowerPoint Presentation</vt:lpstr>
      <vt:lpstr>PowerPoint Presentation</vt:lpstr>
      <vt:lpstr>PowerPoint Presentation</vt:lpstr>
      <vt:lpstr>PowerPoint Presentation</vt:lpstr>
      <vt:lpstr>Project Pipeline: From Raw Data to Smart Insights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Sakshi Khantale</dc:creator>
  <cp:lastModifiedBy>Sakshi Khantale</cp:lastModifiedBy>
  <cp:revision>3</cp:revision>
  <dcterms:created xsi:type="dcterms:W3CDTF">2025-07-26T12:54:28Z</dcterms:created>
  <dcterms:modified xsi:type="dcterms:W3CDTF">2025-08-17T07:20:34Z</dcterms:modified>
</cp:coreProperties>
</file>